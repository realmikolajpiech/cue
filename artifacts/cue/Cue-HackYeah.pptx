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25d8bdb56f444c" /><Relationship Type="http://schemas.openxmlformats.org/officeDocument/2006/relationships/extended-properties" Target="/docProps/app.xml" Id="R7adb600844b045aa" /><Relationship Type="http://schemas.openxmlformats.org/officeDocument/2006/relationships/officeDocument" Target="/ppt/presentation.xml" Id="Rd0711a1411304324" /></Relationships>
</file>

<file path=ppt/presentation.xml><?xml version="1.0" encoding="utf-8"?>
<p:presentation xmlns:p="http://schemas.openxmlformats.org/presentationml/2006/main">
  <p:sldMasterIdLst>
    <p:sldMasterId xmlns:r="http://schemas.openxmlformats.org/officeDocument/2006/relationships" id="2147483648" r:id="Re46ab0bdf5664d8c"/>
  </p:sldMasterIdLst>
  <p:notesMasterIdLst>
    <p:notesMasterId xmlns:r="http://schemas.openxmlformats.org/officeDocument/2006/relationships" r:id="R738ac86b03e94587"/>
  </p:notesMasterIdLst>
  <p:sldIdLst>
    <p:sldId xmlns:r="http://schemas.openxmlformats.org/officeDocument/2006/relationships" id="256" r:id="R7da80e6e44254187"/>
    <p:sldId xmlns:r="http://schemas.openxmlformats.org/officeDocument/2006/relationships" id="257" r:id="Re1eb96256a374cda"/>
    <p:sldId xmlns:r="http://schemas.openxmlformats.org/officeDocument/2006/relationships" id="258" r:id="R37b0e7d73ea54d64"/>
    <p:sldId xmlns:r="http://schemas.openxmlformats.org/officeDocument/2006/relationships" id="259" r:id="Rc5fcfbb6a5574eb8"/>
    <p:sldId xmlns:r="http://schemas.openxmlformats.org/officeDocument/2006/relationships" id="260" r:id="R99056e77917c4504"/>
    <p:sldId xmlns:r="http://schemas.openxmlformats.org/officeDocument/2006/relationships" id="261" r:id="R6383496be4c94ecb"/>
    <p:sldId xmlns:r="http://schemas.openxmlformats.org/officeDocument/2006/relationships" id="262" r:id="R817922e28aa64766"/>
    <p:sldId xmlns:r="http://schemas.openxmlformats.org/officeDocument/2006/relationships" id="263" r:id="Rfff9bc0d6dc8487a"/>
    <p:sldId xmlns:r="http://schemas.openxmlformats.org/officeDocument/2006/relationships" id="264" r:id="Re8f506cf106b42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46870dd5264049" /><Relationship Type="http://schemas.openxmlformats.org/officeDocument/2006/relationships/slideMaster" Target="/ppt/slideMasters/slideMaster1.xml" Id="Re46ab0bdf5664d8c" /><Relationship Type="http://schemas.openxmlformats.org/officeDocument/2006/relationships/notesMaster" Target="/ppt/notesMasters/notesMaster1.xml" Id="R738ac86b03e94587" /><Relationship Type="http://schemas.openxmlformats.org/officeDocument/2006/relationships/presProps" Target="/ppt/presProps.xml" Id="R1b10adcb2fb74eb6" /><Relationship Type="http://schemas.openxmlformats.org/officeDocument/2006/relationships/tableStyles" Target="/ppt/tableStyles.xml" Id="R5f788dafe3b74c0c" /><Relationship Type="http://schemas.openxmlformats.org/officeDocument/2006/relationships/slide" Target="/ppt/slides/slide1.xml" Id="R7da80e6e44254187" /><Relationship Type="http://schemas.openxmlformats.org/officeDocument/2006/relationships/slide" Target="/ppt/slides/slide2.xml" Id="Re1eb96256a374cda" /><Relationship Type="http://schemas.openxmlformats.org/officeDocument/2006/relationships/slide" Target="/ppt/slides/slide3.xml" Id="R37b0e7d73ea54d64" /><Relationship Type="http://schemas.openxmlformats.org/officeDocument/2006/relationships/slide" Target="/ppt/slides/slide4.xml" Id="Rc5fcfbb6a5574eb8" /><Relationship Type="http://schemas.openxmlformats.org/officeDocument/2006/relationships/slide" Target="/ppt/slides/slide5.xml" Id="R99056e77917c4504" /><Relationship Type="http://schemas.openxmlformats.org/officeDocument/2006/relationships/slide" Target="/ppt/slides/slide6.xml" Id="R6383496be4c94ecb" /><Relationship Type="http://schemas.openxmlformats.org/officeDocument/2006/relationships/slide" Target="/ppt/slides/slide7.xml" Id="R817922e28aa64766" /><Relationship Type="http://schemas.openxmlformats.org/officeDocument/2006/relationships/slide" Target="/ppt/slides/slide8.xml" Id="Rfff9bc0d6dc8487a" /><Relationship Type="http://schemas.openxmlformats.org/officeDocument/2006/relationships/slide" Target="/ppt/slides/slide9.xml" Id="Re8f506cf106b42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1b241b4e8048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a67bcdc321410b" /><Relationship Type="http://schemas.openxmlformats.org/officeDocument/2006/relationships/notesMaster" Target="/ppt/notesMasters/notesMaster1.xml" Id="R3efcbe7036464d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d30d70cc5b4d36" /><Relationship Type="http://schemas.openxmlformats.org/officeDocument/2006/relationships/notesMaster" Target="/ppt/notesMasters/notesMaster1.xml" Id="R30c4ead3dbc54d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4c645408fc44dd" /><Relationship Type="http://schemas.openxmlformats.org/officeDocument/2006/relationships/notesMaster" Target="/ppt/notesMasters/notesMaster1.xml" Id="Rad51dcb53a9b4f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6eddd2420b41a9" /><Relationship Type="http://schemas.openxmlformats.org/officeDocument/2006/relationships/notesMaster" Target="/ppt/notesMasters/notesMaster1.xml" Id="R2178a51fcce647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c1746d926f4530" /><Relationship Type="http://schemas.openxmlformats.org/officeDocument/2006/relationships/notesMaster" Target="/ppt/notesMasters/notesMaster1.xml" Id="Re1e77633414f46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a188b765584617" /><Relationship Type="http://schemas.openxmlformats.org/officeDocument/2006/relationships/notesMaster" Target="/ppt/notesMasters/notesMaster1.xml" Id="R577ac30e2f554e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80d4502c21e4cae" /><Relationship Type="http://schemas.openxmlformats.org/officeDocument/2006/relationships/notesMaster" Target="/ppt/notesMasters/notesMaster1.xml" Id="Rd26aac7a534349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6b4eef7d1b4442" /><Relationship Type="http://schemas.openxmlformats.org/officeDocument/2006/relationships/notesMaster" Target="/ppt/notesMasters/notesMaster1.xml" Id="R21e4cc8d08a749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90900f4962c49c9" /><Relationship Type="http://schemas.openxmlformats.org/officeDocument/2006/relationships/notesMaster" Target="/ppt/notesMasters/notesMaster1.xml" Id="Rc88c2cbebc3b4b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docs/PRODUCT.md and the team’s declaration. Artwork: existing assets/mascots/cue-write.png, an AI-assisted Cue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need and target audience are product hypotheses, not research findings. The exam example is a fictional situation illustrating lost context. It is not a user-study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01 uses a new English screenshot supplied by the user, cropped to the account rows. Messenger and WhatsApp show Connected; Instagram shows Not connected. Source: artifacts/cue/screenshots/en/01-connected-accounts-user.png. Sections 02 and 03 show Cue’s native keyboard on a Samsung Galaxy S22. Marta is a fictional conversation with 21 messages and 10 outgoing replies used as writing samples. The goal, translated into English, is “i want to ask how it went”, with a natural tone. The suggestion, translated as “so how did it go? 😊”, and its explanation came from a real model call in Polish. The keyboard was open in Cue’s test field. For sections 02 and 03 in this English deck, screenshot text, including the goal, reply, and explanation, was translated using image editing. These are localized presentation images, not captures of an English native keyboard or a new English model run. No behavior, connection status, or features were added. The user reviews, edits, and sends the reply. Sources: artifacts/cue/screenshots/01-connections-full.png, 02-intention-full.png, 03-reply-full.png, artifacts/cue/demo/exam-conversation.json, and exam-result.json. English assets: artifacts/cue/screenshots/en/.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translates selected Polish messages from a fictional demo conversation in CueDemo.kt into English, preserving their chronological order and meaning. The 50 zł to 30 zł progression illustrates the arithmetic implied by a partial repayment of 20 zł; it is not an independently measured intermediate model result. The saved note is an English translation of the preserved real Polish AI output: “Marta oddała Ci 50 zł za bilet — rozliczone w całości.” Its recorded status is done. No new English inference or benchmark was run for this slide. The completion is supported by the user confirming receipt. Source: artifacts/cue/demo/debt-memory-result.json.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benchmarks/cue/report.json and cases.json, personal-voice case. Incoming message is translated from “Masz ochotę spotkać się jutro?”. The displayed replies are faithful English translations of the preserved Polish model outputs, not new English inference. Both variants used the same incoming message and intention: accept the meeting and ask for the time. The intention is omitted from the visual for brevity, not removed from the original test input. The memory variant supplied style context including lowercase, short messages, frequent phrases and writing examples. The no-memory variant omitted that context. One illustrative synthetic case, not a claim of general superiority or a controlled isolation of writing samples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src/features/subtext/EvidenceSources.tsx, ConversationReminders.tsx, and artifacts/cue/demo/debt-memory-result.json. The right-hand panel comes from an actual capture of the connected Android phone, with the isolated fictional ticket repayment demo open and its three stored source messages expanded in the reminder editor. Original capture: artifacts/cue/screenshots/05-debt-sources-full.png. English excerpt: artifacts/cue/screenshots/en/05-debt-sources-localized.png, cropped and translated with image editing; not a new English-native capture or fresh model inference. Message amounts, authors, order, dates and times are preserved. The user can view source messages, edit or delete reminders and mark open commitments as done; this completed example also supports reopening. Source availability can vary for older entries. No private conversation is shown and no reminder was saved, edited or deleted while capturing.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docs/ARCHITECTURE.md, SubtextRuntime.kt, SubtextKeyboard.kt, and supabase/functions/deepseek-analyze. This editable diagram simplifies the reply-request path: local conversation history, separate memory and per-chat writing features provide selected context and the user intention; Supabase validates the session and applies request limits while retaining the model key on the server; DeepSeek returns a result; the phone validates and presents suggestions in the keyboard for user review, editing and manual sending. Memory analysis also uses this backend, and eligible chats may update automatically when AI is enabled; replies are generated on request. Up to 80 recent messages, memory and style examples can be included; available recent images may accompany reply analysis. The diagram does not claim that all processing is local or that code verifies semantic truth. Instagram is present in the current integration code; its inclusion is not a claim of successful end-to-end verification for every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docs/ARCHITECTURE.md, docs/PRODUCT.md, docs/RESOURCES.md, benchmarks/cue/report.json and review.json. Android is the verified prototype path; iOS validation is a next step, not a claim of equivalent tested behavior. Cloud AI requires internet and sends selected conversation messages, memory, style context and intention for processing. Up to 80 recent messages can be included; reply requests may include up to 3 available recent images. Memory updates automatically for eligible chats after AI consent, and individual chats can be excluded; reply suggestions are on demand and users send manually. Unofficial integrations depend on the service, session and available history. Next steps are plans, not completed outcomes: usefulness testing with users, broader grounding evaluation and reliability improvements, and iOS validation. Evaluation details: 24 synthetic conversation cases, 33 live calls across the main memory-enabled run and nine no-memory comparisons. Main run: 23 of 24 successful requests with valid basic JSON structure; p50 2.573 seconds and p95 3.688 seconds for successful endpoint requests. These are infrastructure/format measurements, not semantic accuracy, user usefulness or complete phone/keyboard latency. The synthetic suite is a regression set, not a held-out benchmark, and there were no independent human participants. Assistant review identified invented details, disputed-debt attribution issues and one HTTP 502. The evaluation predates the local prompt clarification; deployed prompt equality and provider model identity were not verified. Detailed reports are provided with the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declaration: Undefined consists of Mikołaj Piech and Marcel Chudyba, both 18; Cue was created from scratch during HackYeah using existing external tools and general-purpose open-source components. Application work includes integration of native messaging bridges and the Cue interface, per-chat memory, style/intention/tone flow, reminder lifecycle and source inspection, native keyboard integration, backend request validation, demonstrator and evaluation. External resources: Expo SDK 57, React Native, Expo Router and Expo Modules (https://docs.expo.dev/); React, TanStack Query, Zustand, Zod, AsyncStorage, FlashList and Reanimated, with versions and notices in package-lock.json; messaging bridges adapted from Arie, MirrorMsg, mautrix-meta/messagix and whatsmeow, with repositories, commits, modifications and licenses in modules/subtext/NOTICE.md; HeliBoard 4.0 keyboard engine, dictionaries and related upstream functionality, documented in vendor/heliboard/INTEGRATION.md; Supabase Auth and Edge Functions (https://supabase.com/docs); DeepSeek API for interpretation and generation (https://api-docs.deepseek.com/), using the configured alias deepseek-flash, not a team-trained foundation model. App fonts DM Sans and Manrope have licenses in assets/fonts. Full resource disclosure: docs/RESOURCES.md. Codex substantially supported implementation, analysis, debugging, tests, synthetic examples, documentation and presentation materials. Selected screenshot excerpts were translated using AI image editing and are identified in their slide notes. Artwork: assets/mascots/cue-wave.png; brand mascot prompts are documented in assets/mascots/prompts.json. No claim is made of authoring the external engines or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c666ba9c9843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6837cae0004066" /><Relationship Type="http://schemas.openxmlformats.org/officeDocument/2006/relationships/slideLayout" Target="/ppt/slideLayouts/slideLayout1.xml" Id="Rbdb7fcf8d0be4e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b7fcf8d0be4e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6046a091a44f2e" /><Relationship Type="http://schemas.openxmlformats.org/officeDocument/2006/relationships/image" Target="/ppt/media/image.png" Id="Rca4262e9811d4f7a" /><Relationship Type="http://schemas.openxmlformats.org/officeDocument/2006/relationships/notesSlide" Target="/ppt/notesSlides/notesSlide1.xml" Id="R30981cabd4a145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1d6c46855b443a" /><Relationship Type="http://schemas.openxmlformats.org/officeDocument/2006/relationships/notesSlide" Target="/ppt/notesSlides/notesSlide2.xml" Id="R8f03d909ff5f494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be8ba60911493c" /><Relationship Type="http://schemas.openxmlformats.org/officeDocument/2006/relationships/image" Target="/ppt/media/image2.png" Id="Rc220b14603ed4175" /><Relationship Type="http://schemas.openxmlformats.org/officeDocument/2006/relationships/image" Target="/ppt/media/image3.png" Id="R22bd838add6d4ee4" /><Relationship Type="http://schemas.openxmlformats.org/officeDocument/2006/relationships/image" Target="/ppt/media/image4.png" Id="R5ffb476a5f7144aa" /><Relationship Type="http://schemas.openxmlformats.org/officeDocument/2006/relationships/notesSlide" Target="/ppt/notesSlides/notesSlide3.xml" Id="R34e10bb48a7b40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e0271d86d9c4c12" /><Relationship Type="http://schemas.openxmlformats.org/officeDocument/2006/relationships/notesSlide" Target="/ppt/notesSlides/notesSlide4.xml" Id="R420e47b393054a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26520ad17e04b8f" /><Relationship Type="http://schemas.openxmlformats.org/officeDocument/2006/relationships/notesSlide" Target="/ppt/notesSlides/notesSlide5.xml" Id="Ra95c407b246b49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dcc8addecf64cce" /><Relationship Type="http://schemas.openxmlformats.org/officeDocument/2006/relationships/image" Target="/ppt/media/image5.png" Id="R22bf59303ffb47bb" /><Relationship Type="http://schemas.openxmlformats.org/officeDocument/2006/relationships/notesSlide" Target="/ppt/notesSlides/notesSlide6.xml" Id="R6adc9ba79d8640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ee381d1dc254d99" /><Relationship Type="http://schemas.openxmlformats.org/officeDocument/2006/relationships/notesSlide" Target="/ppt/notesSlides/notesSlide7.xml" Id="R38c1a66e35454e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1503c41db0e4da6" /><Relationship Type="http://schemas.openxmlformats.org/officeDocument/2006/relationships/notesSlide" Target="/ppt/notesSlides/notesSlide8.xml" Id="R6f44922bf7b547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aa8c35b4f8486f" /><Relationship Type="http://schemas.openxmlformats.org/officeDocument/2006/relationships/image" Target="/ppt/media/image6.png" Id="Rf2c3f9bebd5b4056" /><Relationship Type="http://schemas.openxmlformats.org/officeDocument/2006/relationships/notesSlide" Target="/ppt/notesSlides/notesSlide9.xml" Id="R1c4587be458e4ba4" /></Relationships>
</file>

<file path=ppt/slides/slide1.xml><?xml version="1.0" encoding="utf-8"?>
<p:sld xmlns:p="http://schemas.openxmlformats.org/presentationml/2006/main">
  <p:cSld>
    <p:bg>
      <p:bgPr>
        <a:solidFill xmlns:a="http://schemas.openxmlformats.org/drawingml/2006/main">
          <a:srgbClr val="F5F6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75D591-9258-4F01-9B67-75AA3AABDB4D}"/>
              </a:ext>
            </a:extLst>
          </p:cNvPr>
          <p:cNvSpPr>
            <a:spLocks xmlns:a="http://schemas.openxmlformats.org/drawingml/2006/main" noGrp="1"/>
          </p:cNvSpPr>
          <p:nvPr/>
        </p:nvSpPr>
        <p:spPr>
          <a:xfrm xmlns:a="http://schemas.openxmlformats.org/drawingml/2006/main">
            <a:off x="647700" y="495300"/>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02B45"/>
                </a:solidFill>
                <a:latin typeface="Helvetica Neue"/>
                <a:ea typeface="Helvetica Neue"/>
                <a:cs typeface="Helvetica Neue"/>
              </a:defRPr>
            </a:pPr>
            <a:r>
              <a:rPr sz="3450" b="1">
                <a:solidFill>
                  <a:srgbClr val="202B45"/>
                </a:solidFill>
                <a:latin typeface="Helvetica Neue"/>
                <a:ea typeface="Helvetica Neue"/>
                <a:cs typeface="Helvetica Neue"/>
              </a:rPr>
              <a:t>Cue</a:t>
            </a:r>
          </a:p>
        </p:txBody>
      </p:sp>
      <p:sp>
        <p:nvSpPr>
          <p:cNvPr id="2" name="">
            <a:extLst xmlns:a="http://schemas.openxmlformats.org/drawingml/2006/main">
              <a:ext uri="{FF2B5EF4-FFF2-40B4-BE49-F238E27FC236}">
                <a16:creationId xmlns:a16="http://schemas.microsoft.com/office/drawing/2014/main" id="{E31FDB8C-A552-406E-8388-810BE368504E}"/>
              </a:ext>
            </a:extLst>
          </p:cNvPr>
          <p:cNvSpPr>
            <a:spLocks xmlns:a="http://schemas.openxmlformats.org/drawingml/2006/main" noGrp="1"/>
          </p:cNvSpPr>
          <p:nvPr/>
        </p:nvSpPr>
        <p:spPr>
          <a:xfrm xmlns:a="http://schemas.openxmlformats.org/drawingml/2006/main">
            <a:off x="685800" y="1809750"/>
            <a:ext cx="685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202B45"/>
                </a:solidFill>
                <a:latin typeface="Helvetica Neue"/>
                <a:ea typeface="Helvetica Neue"/>
                <a:cs typeface="Helvetica Neue"/>
              </a:defRPr>
            </a:pPr>
            <a:r>
              <a:rPr sz="4050" b="1">
                <a:solidFill>
                  <a:srgbClr val="202B45"/>
                </a:solidFill>
                <a:latin typeface="Helvetica Neue"/>
                <a:ea typeface="Helvetica Neue"/>
                <a:cs typeface="Helvetica Neue"/>
              </a:rPr>
              <a:t>Not sure how to reply?</a:t>
            </a:r>
          </a:p>
          <a:p xmlns:a="http://schemas.openxmlformats.org/drawingml/2006/main">
            <a:pPr>
              <a:buNone/>
              <a:defRPr sz="4050" b="1">
                <a:solidFill>
                  <a:srgbClr val="202B45"/>
                </a:solidFill>
                <a:latin typeface="Helvetica Neue"/>
                <a:ea typeface="Helvetica Neue"/>
                <a:cs typeface="Helvetica Neue"/>
              </a:defRPr>
            </a:pPr>
            <a:r>
              <a:rPr sz="4050" b="1">
                <a:solidFill>
                  <a:srgbClr val="202B45"/>
                </a:solidFill>
                <a:latin typeface="Helvetica Neue"/>
                <a:ea typeface="Helvetica Neue"/>
                <a:cs typeface="Helvetica Neue"/>
              </a:rPr>
              <a:t>Cue has a suggestion.</a:t>
            </a:r>
          </a:p>
        </p:txBody>
      </p:sp>
      <p:sp>
        <p:nvSpPr>
          <p:cNvPr id="3" name="">
            <a:extLst xmlns:a="http://schemas.openxmlformats.org/drawingml/2006/main">
              <a:ext uri="{FF2B5EF4-FFF2-40B4-BE49-F238E27FC236}">
                <a16:creationId xmlns:a16="http://schemas.microsoft.com/office/drawing/2014/main" id="{EA66C0C8-233D-469E-B11B-3304F6B0A86F}"/>
              </a:ext>
            </a:extLst>
          </p:cNvPr>
          <p:cNvSpPr>
            <a:spLocks xmlns:a="http://schemas.openxmlformats.org/drawingml/2006/main" noGrp="1"/>
          </p:cNvSpPr>
          <p:nvPr/>
        </p:nvSpPr>
        <p:spPr>
          <a:xfrm xmlns:a="http://schemas.openxmlformats.org/drawingml/2006/main">
            <a:off x="685800" y="4000500"/>
            <a:ext cx="685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8647B"/>
                </a:solidFill>
                <a:latin typeface="Helvetica Neue"/>
                <a:ea typeface="Helvetica Neue"/>
                <a:cs typeface="Helvetica Neue"/>
              </a:defRPr>
            </a:pPr>
            <a:r>
              <a:rPr sz="2100" b="0">
                <a:solidFill>
                  <a:srgbClr val="58647B"/>
                </a:solidFill>
                <a:latin typeface="Helvetica Neue"/>
                <a:ea typeface="Helvetica Neue"/>
                <a:cs typeface="Helvetica Neue"/>
              </a:rPr>
              <a:t>An AI keyboard that combines conversation context,</a:t>
            </a:r>
          </a:p>
          <a:p xmlns:a="http://schemas.openxmlformats.org/drawingml/2006/main">
            <a:pPr>
              <a:buNone/>
              <a:defRPr sz="2100" b="0">
                <a:solidFill>
                  <a:srgbClr val="58647B"/>
                </a:solidFill>
                <a:latin typeface="Helvetica Neue"/>
                <a:ea typeface="Helvetica Neue"/>
                <a:cs typeface="Helvetica Neue"/>
              </a:defRPr>
            </a:pPr>
            <a:r>
              <a:rPr sz="2100" b="0">
                <a:solidFill>
                  <a:srgbClr val="58647B"/>
                </a:solidFill>
                <a:latin typeface="Helvetica Neue"/>
                <a:ea typeface="Helvetica Neue"/>
                <a:cs typeface="Helvetica Neue"/>
              </a:rPr>
              <a:t>what you want to say, and your writing style.</a:t>
            </a:r>
          </a:p>
        </p:txBody>
      </p:sp>
      <p:sp>
        <p:nvSpPr>
          <p:cNvPr id="4" name="">
            <a:extLst xmlns:a="http://schemas.openxmlformats.org/drawingml/2006/main">
              <a:ext uri="{FF2B5EF4-FFF2-40B4-BE49-F238E27FC236}">
                <a16:creationId xmlns:a16="http://schemas.microsoft.com/office/drawing/2014/main" id="{9DB1EF8C-69DE-47DC-B606-BDCB5C270D80}"/>
              </a:ext>
            </a:extLst>
          </p:cNvPr>
          <p:cNvSpPr>
            <a:spLocks xmlns:a="http://schemas.openxmlformats.org/drawingml/2006/main" noGrp="1"/>
          </p:cNvSpPr>
          <p:nvPr/>
        </p:nvSpPr>
        <p:spPr>
          <a:xfrm xmlns:a="http://schemas.openxmlformats.org/drawingml/2006/main">
            <a:off x="685800" y="57150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8647B"/>
                </a:solidFill>
                <a:latin typeface="Helvetica Neue"/>
                <a:ea typeface="Helvetica Neue"/>
                <a:cs typeface="Helvetica Neue"/>
              </a:defRPr>
            </a:pPr>
            <a:r>
              <a:rPr sz="1650" b="0">
                <a:solidFill>
                  <a:srgbClr val="58647B"/>
                </a:solidFill>
                <a:latin typeface="Helvetica Neue"/>
                <a:ea typeface="Helvetica Neue"/>
                <a:cs typeface="Helvetica Neue"/>
              </a:rPr>
              <a:t>Undefined · Mikołaj Piech · Marcel Chudyba</a:t>
            </a:r>
          </a:p>
          <a:p xmlns:a="http://schemas.openxmlformats.org/drawingml/2006/main">
            <a:pPr>
              <a:buNone/>
              <a:defRPr sz="1650" b="0">
                <a:solidFill>
                  <a:srgbClr val="58647B"/>
                </a:solidFill>
                <a:latin typeface="Helvetica Neue"/>
                <a:ea typeface="Helvetica Neue"/>
                <a:cs typeface="Helvetica Neue"/>
              </a:defRPr>
            </a:pPr>
            <a:r>
              <a:rPr sz="1650" b="0">
                <a:solidFill>
                  <a:srgbClr val="58647B"/>
                </a:solidFill>
                <a:latin typeface="Helvetica Neue"/>
                <a:ea typeface="Helvetica Neue"/>
                <a:cs typeface="Helvetica Neue"/>
              </a:rPr>
              <a:t>HackYeah 2026 · Artificial Intelligence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a4262e9811d4f7a"/>
          <a:stretch xmlns:a="http://schemas.openxmlformats.org/drawingml/2006/main"/>
        </p:blipFill>
        <p:spPr>
          <a:xfrm xmlns:a="http://schemas.openxmlformats.org/drawingml/2006/main">
            <a:off x="8382000" y="1762125"/>
            <a:ext cx="2857500" cy="2857500"/>
          </a:xfrm>
          <a:prstGeom xmlns:a="http://schemas.openxmlformats.org/drawingml/2006/main" prst="rect">
            <a:avLst/>
          </a:prstGeom>
        </p:spPr>
      </p:pic>
    </p:spTree>
    <p:extLst>
      <p:ext uri="{BB962C8B-B14F-4D97-AF65-F5344CB8AC3E}">
        <p14:creationId xmlns:p14="http://schemas.microsoft.com/office/powerpoint/2010/main" val="136421236"/>
      </p:ext>
    </p:extLst>
  </p:cSld>
</p:sld>
</file>

<file path=ppt/slides/slide2.xml><?xml version="1.0" encoding="utf-8"?>
<p:sld xmlns:p="http://schemas.openxmlformats.org/presentationml/2006/main">
  <p:cSld>
    <p:bg>
      <p:bgPr>
        <a:solidFill xmlns:a="http://schemas.openxmlformats.org/drawingml/2006/main">
          <a:srgbClr val="F5F6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CCA81A-BD6E-4ADC-84CD-A8AC8128C460}"/>
              </a:ext>
            </a:extLst>
          </p:cNvPr>
          <p:cNvSpPr>
            <a:spLocks xmlns:a="http://schemas.openxmlformats.org/drawingml/2006/main" noGrp="1"/>
          </p:cNvSpPr>
          <p:nvPr/>
        </p:nvSpPr>
        <p:spPr>
          <a:xfrm xmlns:a="http://schemas.openxmlformats.org/drawingml/2006/main">
            <a:off x="647700" y="495300"/>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02B45"/>
                </a:solidFill>
                <a:latin typeface="Helvetica Neue"/>
                <a:ea typeface="Helvetica Neue"/>
                <a:cs typeface="Helvetica Neue"/>
              </a:defRPr>
            </a:pPr>
            <a:r>
              <a:rPr sz="3450" b="1">
                <a:solidFill>
                  <a:srgbClr val="202B45"/>
                </a:solidFill>
                <a:latin typeface="Helvetica Neue"/>
                <a:ea typeface="Helvetica Neue"/>
                <a:cs typeface="Helvetica Neue"/>
              </a:rPr>
              <a:t>When finding the words is hard</a:t>
            </a:r>
          </a:p>
        </p:txBody>
      </p:sp>
      <p:sp>
        <p:nvSpPr>
          <p:cNvPr id="2" name="">
            <a:extLst xmlns:a="http://schemas.openxmlformats.org/drawingml/2006/main">
              <a:ext uri="{FF2B5EF4-FFF2-40B4-BE49-F238E27FC236}">
                <a16:creationId xmlns:a16="http://schemas.microsoft.com/office/drawing/2014/main" id="{BFBB96A4-4DBA-4EB6-B399-89DA82DC10FE}"/>
              </a:ext>
            </a:extLst>
          </p:cNvPr>
          <p:cNvSpPr>
            <a:spLocks xmlns:a="http://schemas.openxmlformats.org/drawingml/2006/main" noGrp="1"/>
          </p:cNvSpPr>
          <p:nvPr/>
        </p:nvSpPr>
        <p:spPr>
          <a:xfrm xmlns:a="http://schemas.openxmlformats.org/drawingml/2006/main">
            <a:off x="685800" y="18573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4869B3"/>
                </a:solidFill>
                <a:latin typeface="Helvetica Neue"/>
                <a:ea typeface="Helvetica Neue"/>
                <a:cs typeface="Helvetica Neue"/>
              </a:defRPr>
            </a:pPr>
            <a:r>
              <a:rPr sz="3450" b="1">
                <a:solidFill>
                  <a:srgbClr val="4869B3"/>
                </a:solidFill>
                <a:latin typeface="Helvetica Neue"/>
                <a:ea typeface="Helvetica Neue"/>
                <a:cs typeface="Helvetica Neue"/>
              </a:rPr>
              <a:t>What should I say?</a:t>
            </a:r>
          </a:p>
        </p:txBody>
      </p:sp>
      <p:sp>
        <p:nvSpPr>
          <p:cNvPr id="3" name="">
            <a:extLst xmlns:a="http://schemas.openxmlformats.org/drawingml/2006/main">
              <a:ext uri="{FF2B5EF4-FFF2-40B4-BE49-F238E27FC236}">
                <a16:creationId xmlns:a16="http://schemas.microsoft.com/office/drawing/2014/main" id="{A11FA5A5-52E8-4383-9B4F-DD8813A6EA83}"/>
              </a:ext>
            </a:extLst>
          </p:cNvPr>
          <p:cNvSpPr>
            <a:spLocks xmlns:a="http://schemas.openxmlformats.org/drawingml/2006/main" noGrp="1"/>
          </p:cNvSpPr>
          <p:nvPr/>
        </p:nvSpPr>
        <p:spPr>
          <a:xfrm xmlns:a="http://schemas.openxmlformats.org/drawingml/2006/main">
            <a:off x="685800" y="2714625"/>
            <a:ext cx="5095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202B45"/>
                </a:solidFill>
                <a:latin typeface="Helvetica Neue"/>
                <a:ea typeface="Helvetica Neue"/>
                <a:cs typeface="Helvetica Neue"/>
              </a:defRPr>
            </a:pPr>
            <a:r>
              <a:rPr sz="2250" b="0">
                <a:solidFill>
                  <a:srgbClr val="202B45"/>
                </a:solidFill>
                <a:latin typeface="Helvetica Neue"/>
                <a:ea typeface="Helvetica Neue"/>
                <a:cs typeface="Helvetica Neue"/>
              </a:rPr>
              <a:t>You want to offer support, clear up a misunderstanding, or flirt a little. Finding the right words and tone can be hard.</a:t>
            </a:r>
          </a:p>
        </p:txBody>
      </p:sp>
      <p:sp>
        <p:nvSpPr>
          <p:cNvPr id="4" name="">
            <a:extLst xmlns:a="http://schemas.openxmlformats.org/drawingml/2006/main">
              <a:ext uri="{FF2B5EF4-FFF2-40B4-BE49-F238E27FC236}">
                <a16:creationId xmlns:a16="http://schemas.microsoft.com/office/drawing/2014/main" id="{B2329C23-68F1-4984-83B6-57DD18A1CFCC}"/>
              </a:ext>
            </a:extLst>
          </p:cNvPr>
          <p:cNvSpPr>
            <a:spLocks xmlns:a="http://schemas.openxmlformats.org/drawingml/2006/main" noGrp="1"/>
          </p:cNvSpPr>
          <p:nvPr/>
        </p:nvSpPr>
        <p:spPr>
          <a:xfrm xmlns:a="http://schemas.openxmlformats.org/drawingml/2006/main">
            <a:off x="6667500" y="185737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4869B3"/>
                </a:solidFill>
                <a:latin typeface="Helvetica Neue"/>
                <a:ea typeface="Helvetica Neue"/>
                <a:cs typeface="Helvetica Neue"/>
              </a:defRPr>
            </a:pPr>
            <a:r>
              <a:rPr sz="3450" b="1">
                <a:solidFill>
                  <a:srgbClr val="4869B3"/>
                </a:solidFill>
                <a:latin typeface="Helvetica Neue"/>
                <a:ea typeface="Helvetica Neue"/>
                <a:cs typeface="Helvetica Neue"/>
              </a:rPr>
              <a:t>What am I missing?</a:t>
            </a:r>
          </a:p>
        </p:txBody>
      </p:sp>
      <p:sp>
        <p:nvSpPr>
          <p:cNvPr id="5" name="">
            <a:extLst xmlns:a="http://schemas.openxmlformats.org/drawingml/2006/main">
              <a:ext uri="{FF2B5EF4-FFF2-40B4-BE49-F238E27FC236}">
                <a16:creationId xmlns:a16="http://schemas.microsoft.com/office/drawing/2014/main" id="{108F86D3-10EF-4429-B194-803A29AEDDBA}"/>
              </a:ext>
            </a:extLst>
          </p:cNvPr>
          <p:cNvSpPr>
            <a:spLocks xmlns:a="http://schemas.openxmlformats.org/drawingml/2006/main" noGrp="1"/>
          </p:cNvSpPr>
          <p:nvPr/>
        </p:nvSpPr>
        <p:spPr>
          <a:xfrm xmlns:a="http://schemas.openxmlformats.org/drawingml/2006/main">
            <a:off x="6667500" y="2714625"/>
            <a:ext cx="4762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202B45"/>
                </a:solidFill>
                <a:latin typeface="Helvetica Neue"/>
                <a:ea typeface="Helvetica Neue"/>
                <a:cs typeface="Helvetica Neue"/>
              </a:defRPr>
            </a:pPr>
            <a:r>
              <a:rPr sz="2250" b="0">
                <a:solidFill>
                  <a:srgbClr val="202B45"/>
                </a:solidFill>
                <a:latin typeface="Helvetica Neue"/>
                <a:ea typeface="Helvetica Neue"/>
                <a:cs typeface="Helvetica Neue"/>
              </a:rPr>
              <a:t>Important events, preferences, and promises get buried in the chat history.</a:t>
            </a:r>
          </a:p>
        </p:txBody>
      </p:sp>
      <p:sp>
        <p:nvSpPr>
          <p:cNvPr id="6" name="">
            <a:extLst xmlns:a="http://schemas.openxmlformats.org/drawingml/2006/main">
              <a:ext uri="{FF2B5EF4-FFF2-40B4-BE49-F238E27FC236}">
                <a16:creationId xmlns:a16="http://schemas.microsoft.com/office/drawing/2014/main" id="{363F7964-CE4B-49A8-9B43-6327420C06BA}"/>
              </a:ext>
            </a:extLst>
          </p:cNvPr>
          <p:cNvSpPr>
            <a:spLocks xmlns:a="http://schemas.openxmlformats.org/drawingml/2006/main" noGrp="1"/>
          </p:cNvSpPr>
          <p:nvPr/>
        </p:nvSpPr>
        <p:spPr>
          <a:xfrm xmlns:a="http://schemas.openxmlformats.org/drawingml/2006/main">
            <a:off x="685800" y="49530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202B45"/>
                </a:solidFill>
                <a:latin typeface="Helvetica Neue"/>
                <a:ea typeface="Helvetica Neue"/>
                <a:cs typeface="Helvetica Neue"/>
              </a:defRPr>
            </a:pPr>
            <a:r>
              <a:rPr sz="2550" b="1">
                <a:solidFill>
                  <a:srgbClr val="202B45"/>
                </a:solidFill>
                <a:latin typeface="Helvetica Neue"/>
                <a:ea typeface="Helvetica Neue"/>
                <a:cs typeface="Helvetica Neue"/>
              </a:rPr>
              <a:t>“finally done 😮‍💨”</a:t>
            </a:r>
          </a:p>
        </p:txBody>
      </p:sp>
      <p:sp>
        <p:nvSpPr>
          <p:cNvPr id="8" name="">
            <a:extLst xmlns:a="http://schemas.openxmlformats.org/drawingml/2006/main">
              <a:ext uri="{FF2B5EF4-FFF2-40B4-BE49-F238E27FC236}">
                <a16:creationId xmlns:a16="http://schemas.microsoft.com/office/drawing/2014/main" id="{DFEB5ABB-6F27-42CF-859C-244B5C5D861F}"/>
              </a:ext>
            </a:extLst>
          </p:cNvPr>
          <p:cNvSpPr>
            <a:spLocks xmlns:a="http://schemas.openxmlformats.org/drawingml/2006/main" noGrp="1"/>
          </p:cNvSpPr>
          <p:nvPr/>
        </p:nvSpPr>
        <p:spPr>
          <a:xfrm xmlns:a="http://schemas.openxmlformats.org/drawingml/2006/main">
            <a:off x="685800" y="57150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a:solidFill>
                  <a:srgbClr val="58647B"/>
                </a:solidFill>
                <a:latin typeface="Helvetica Neue"/>
                <a:ea typeface="Helvetica Neue"/>
                <a:cs typeface="Helvetica Neue"/>
              </a:defRPr>
            </a:pPr>
            <a:r>
              <a:rPr sz="2100">
                <a:solidFill>
                  <a:srgbClr val="58647B"/>
                </a:solidFill>
                <a:latin typeface="Helvetica Neue"/>
                <a:ea typeface="Helvetica Neue"/>
                <a:cs typeface="Helvetica Neue"/>
              </a:rPr>
              <a:t>Do you remember the exam they were so stressed about?</a:t>
            </a:r>
          </a:p>
        </p:txBody>
      </p:sp>
    </p:spTree>
    <p:extLst>
      <p:ext uri="{BB962C8B-B14F-4D97-AF65-F5344CB8AC3E}">
        <p14:creationId xmlns:p14="http://schemas.microsoft.com/office/powerpoint/2010/main" val="199661816"/>
      </p:ext>
    </p:extLst>
  </p:cSld>
</p:sld>
</file>

<file path=ppt/slides/slide3.xml><?xml version="1.0" encoding="utf-8"?>
<p:sld xmlns:p="http://schemas.openxmlformats.org/presentationml/2006/main">
  <p:cSld>
    <p:bg>
      <p:bgPr>
        <a:solidFill xmlns:a="http://schemas.openxmlformats.org/drawingml/2006/main">
          <a:srgbClr val="F5F6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1A7DAF-37B9-4537-96DA-993A01A0239A}"/>
              </a:ext>
            </a:extLst>
          </p:cNvPr>
          <p:cNvSpPr>
            <a:spLocks xmlns:a="http://schemas.openxmlformats.org/drawingml/2006/main" noGrp="1"/>
          </p:cNvSpPr>
          <p:nvPr/>
        </p:nvSpPr>
        <p:spPr>
          <a:xfrm xmlns:a="http://schemas.openxmlformats.org/drawingml/2006/main">
            <a:off x="647700" y="495300"/>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02B45"/>
                </a:solidFill>
                <a:latin typeface="Helvetica Neue"/>
                <a:ea typeface="Helvetica Neue"/>
                <a:cs typeface="Helvetica Neue"/>
              </a:defRPr>
            </a:pPr>
            <a:r>
              <a:rPr sz="3450" b="1">
                <a:solidFill>
                  <a:srgbClr val="202B45"/>
                </a:solidFill>
                <a:latin typeface="Helvetica Neue"/>
                <a:ea typeface="Helvetica Neue"/>
                <a:cs typeface="Helvetica Neue"/>
              </a:rPr>
              <a:t>Cue, right where you type</a:t>
            </a:r>
          </a:p>
        </p:txBody>
      </p:sp>
      <p:sp>
        <p:nvSpPr>
          <p:cNvPr id="2" name="">
            <a:extLst xmlns:a="http://schemas.openxmlformats.org/drawingml/2006/main">
              <a:ext uri="{FF2B5EF4-FFF2-40B4-BE49-F238E27FC236}">
                <a16:creationId xmlns:a16="http://schemas.microsoft.com/office/drawing/2014/main" id="{084F054B-BFD4-4971-94CE-9EF1D0333AA8}"/>
              </a:ext>
            </a:extLst>
          </p:cNvPr>
          <p:cNvSpPr>
            <a:spLocks xmlns:a="http://schemas.openxmlformats.org/drawingml/2006/main" noGrp="1"/>
          </p:cNvSpPr>
          <p:nvPr/>
        </p:nvSpPr>
        <p:spPr>
          <a:xfrm xmlns:a="http://schemas.openxmlformats.org/drawingml/2006/main">
            <a:off x="685800" y="1762125"/>
            <a:ext cx="295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650" b="1">
                <a:solidFill>
                  <a:srgbClr val="4869B3"/>
                </a:solidFill>
                <a:latin typeface="Helvetica Neue"/>
                <a:ea typeface="Helvetica Neue"/>
                <a:cs typeface="Helvetica Neue"/>
              </a:defRPr>
            </a:pPr>
            <a:r>
              <a:rPr sz="4650" b="1">
                <a:solidFill>
                  <a:srgbClr val="4869B3"/>
                </a:solidFill>
                <a:latin typeface="Helvetica Neue"/>
                <a:ea typeface="Helvetica Neue"/>
                <a:cs typeface="Helvetica Neue"/>
              </a:rPr>
              <a:t/>
            </a:r>
          </a:p>
        </p:txBody>
      </p:sp>
      <p:sp>
        <p:nvSpPr>
          <p:cNvPr id="3" name="">
            <a:extLst xmlns:a="http://schemas.openxmlformats.org/drawingml/2006/main">
              <a:ext uri="{FF2B5EF4-FFF2-40B4-BE49-F238E27FC236}">
                <a16:creationId xmlns:a16="http://schemas.microsoft.com/office/drawing/2014/main" id="{79355773-F721-4624-979C-0EE237D51C32}"/>
              </a:ext>
            </a:extLst>
          </p:cNvPr>
          <p:cNvSpPr>
            <a:spLocks xmlns:a="http://schemas.openxmlformats.org/drawingml/2006/main" noGrp="1"/>
          </p:cNvSpPr>
          <p:nvPr/>
        </p:nvSpPr>
        <p:spPr>
          <a:xfrm xmlns:a="http://schemas.openxmlformats.org/drawingml/2006/main">
            <a:off x="685800" y="16192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202B47"/>
                </a:solidFill>
                <a:latin typeface="Helvetica Neue"/>
                <a:ea typeface="Helvetica Neue"/>
                <a:cs typeface="Helvetica Neue"/>
              </a:defRPr>
            </a:pPr>
            <a:r>
              <a:rPr sz="1950" b="1">
                <a:solidFill>
                  <a:srgbClr val="202B47"/>
                </a:solidFill>
                <a:latin typeface="Helvetica Neue"/>
                <a:ea typeface="Helvetica Neue"/>
                <a:cs typeface="Helvetica Neue"/>
              </a:rPr>
              <a:t>01 Connect an account</a:t>
            </a:r>
          </a:p>
        </p:txBody>
      </p:sp>
      <p:sp>
        <p:nvSpPr>
          <p:cNvPr id="4" name="">
            <a:extLst xmlns:a="http://schemas.openxmlformats.org/drawingml/2006/main">
              <a:ext uri="{FF2B5EF4-FFF2-40B4-BE49-F238E27FC236}">
                <a16:creationId xmlns:a16="http://schemas.microsoft.com/office/drawing/2014/main" id="{98115B52-09E8-4208-9A4F-8E8A495DA30E}"/>
              </a:ext>
            </a:extLst>
          </p:cNvPr>
          <p:cNvSpPr>
            <a:spLocks xmlns:a="http://schemas.openxmlformats.org/drawingml/2006/main" noGrp="1"/>
          </p:cNvSpPr>
          <p:nvPr/>
        </p:nvSpPr>
        <p:spPr>
          <a:xfrm xmlns:a="http://schemas.openxmlformats.org/drawingml/2006/main">
            <a:off x="685800" y="5562600"/>
            <a:ext cx="314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2B47"/>
                </a:solidFill>
                <a:latin typeface="Helvetica Neue"/>
                <a:ea typeface="Helvetica Neue"/>
                <a:cs typeface="Helvetica Neue"/>
              </a:defRPr>
            </a:pPr>
            <a:r>
              <a:rPr sz="1800" b="0">
                <a:solidFill>
                  <a:srgbClr val="202B47"/>
                </a:solidFill>
                <a:latin typeface="Helvetica Neue"/>
                <a:ea typeface="Helvetica Neue"/>
                <a:cs typeface="Helvetica Neue"/>
              </a:rPr>
              <a:t>Messenger or WhatsApp.</a:t>
            </a:r>
          </a:p>
          <a:p xmlns:a="http://schemas.openxmlformats.org/drawingml/2006/main">
            <a:pPr>
              <a:buNone/>
              <a:defRPr sz="1800" b="0">
                <a:solidFill>
                  <a:srgbClr val="202B47"/>
                </a:solidFill>
                <a:latin typeface="Helvetica Neue"/>
                <a:ea typeface="Helvetica Neue"/>
                <a:cs typeface="Helvetica Neue"/>
              </a:defRPr>
            </a:pPr>
            <a:r>
              <a:rPr sz="1800" b="0">
                <a:solidFill>
                  <a:srgbClr val="202B47"/>
                </a:solidFill>
                <a:latin typeface="Helvetica Neue"/>
                <a:ea typeface="Helvetica Neue"/>
                <a:cs typeface="Helvetica Neue"/>
              </a:rPr>
              <a:t>Context from your chosen chat.</a:t>
            </a:r>
          </a:p>
        </p:txBody>
      </p:sp>
      <p:sp>
        <p:nvSpPr>
          <p:cNvPr id="5" name="">
            <a:extLst xmlns:a="http://schemas.openxmlformats.org/drawingml/2006/main">
              <a:ext uri="{FF2B5EF4-FFF2-40B4-BE49-F238E27FC236}">
                <a16:creationId xmlns:a16="http://schemas.microsoft.com/office/drawing/2014/main" id="{F629A044-351A-4315-9AB7-5169C0B4F801}"/>
              </a:ext>
            </a:extLst>
          </p:cNvPr>
          <p:cNvSpPr>
            <a:spLocks xmlns:a="http://schemas.openxmlformats.org/drawingml/2006/main" noGrp="1"/>
          </p:cNvSpPr>
          <p:nvPr/>
        </p:nvSpPr>
        <p:spPr>
          <a:xfrm xmlns:a="http://schemas.openxmlformats.org/drawingml/2006/main">
            <a:off x="4524375" y="1762125"/>
            <a:ext cx="295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650" b="1">
                <a:solidFill>
                  <a:srgbClr val="4869B3"/>
                </a:solidFill>
                <a:latin typeface="Helvetica Neue"/>
                <a:ea typeface="Helvetica Neue"/>
                <a:cs typeface="Helvetica Neue"/>
              </a:defRPr>
            </a:pPr>
            <a:r>
              <a:rPr sz="4650" b="1">
                <a:solidFill>
                  <a:srgbClr val="4869B3"/>
                </a:solidFill>
                <a:latin typeface="Helvetica Neue"/>
                <a:ea typeface="Helvetica Neue"/>
                <a:cs typeface="Helvetica Neue"/>
              </a:rPr>
              <a:t/>
            </a:r>
          </a:p>
        </p:txBody>
      </p:sp>
      <p:sp>
        <p:nvSpPr>
          <p:cNvPr id="6" name="">
            <a:extLst xmlns:a="http://schemas.openxmlformats.org/drawingml/2006/main">
              <a:ext uri="{FF2B5EF4-FFF2-40B4-BE49-F238E27FC236}">
                <a16:creationId xmlns:a16="http://schemas.microsoft.com/office/drawing/2014/main" id="{05736805-C8FD-46B0-89D2-55807B98CCDB}"/>
              </a:ext>
            </a:extLst>
          </p:cNvPr>
          <p:cNvSpPr>
            <a:spLocks xmlns:a="http://schemas.openxmlformats.org/drawingml/2006/main" noGrp="1"/>
          </p:cNvSpPr>
          <p:nvPr/>
        </p:nvSpPr>
        <p:spPr>
          <a:xfrm xmlns:a="http://schemas.openxmlformats.org/drawingml/2006/main">
            <a:off x="4191000" y="1619250"/>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202B47"/>
                </a:solidFill>
                <a:latin typeface="Helvetica Neue"/>
                <a:ea typeface="Helvetica Neue"/>
                <a:cs typeface="Helvetica Neue"/>
              </a:defRPr>
            </a:pPr>
            <a:r>
              <a:rPr sz="1950" b="1">
                <a:solidFill>
                  <a:srgbClr val="202B47"/>
                </a:solidFill>
                <a:latin typeface="Helvetica Neue"/>
                <a:ea typeface="Helvetica Neue"/>
                <a:cs typeface="Helvetica Neue"/>
              </a:rPr>
              <a:t>02 Set your intention</a:t>
            </a:r>
          </a:p>
        </p:txBody>
      </p:sp>
      <p:sp>
        <p:nvSpPr>
          <p:cNvPr id="7" name="">
            <a:extLst xmlns:a="http://schemas.openxmlformats.org/drawingml/2006/main">
              <a:ext uri="{FF2B5EF4-FFF2-40B4-BE49-F238E27FC236}">
                <a16:creationId xmlns:a16="http://schemas.microsoft.com/office/drawing/2014/main" id="{8B638D3D-B1B4-4DAE-AA5E-964CA2419512}"/>
              </a:ext>
            </a:extLst>
          </p:cNvPr>
          <p:cNvSpPr>
            <a:spLocks xmlns:a="http://schemas.openxmlformats.org/drawingml/2006/main" noGrp="1"/>
          </p:cNvSpPr>
          <p:nvPr/>
        </p:nvSpPr>
        <p:spPr>
          <a:xfrm xmlns:a="http://schemas.openxmlformats.org/drawingml/2006/main">
            <a:off x="4191000" y="5562600"/>
            <a:ext cx="335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2B47"/>
                </a:solidFill>
                <a:latin typeface="Helvetica Neue"/>
                <a:ea typeface="Helvetica Neue"/>
                <a:cs typeface="Helvetica Neue"/>
              </a:defRPr>
            </a:pPr>
            <a:r>
              <a:rPr sz="1800" b="0">
                <a:solidFill>
                  <a:srgbClr val="202B47"/>
                </a:solidFill>
                <a:latin typeface="Helvetica Neue"/>
                <a:ea typeface="Helvetica Neue"/>
                <a:cs typeface="Helvetica Neue"/>
              </a:rPr>
              <a:t>Say what you want to express.</a:t>
            </a:r>
          </a:p>
          <a:p xmlns:a="http://schemas.openxmlformats.org/drawingml/2006/main">
            <a:pPr>
              <a:buNone/>
              <a:defRPr sz="1800" b="0">
                <a:solidFill>
                  <a:srgbClr val="202B47"/>
                </a:solidFill>
                <a:latin typeface="Helvetica Neue"/>
                <a:ea typeface="Helvetica Neue"/>
                <a:cs typeface="Helvetica Neue"/>
              </a:defRPr>
            </a:pPr>
            <a:r>
              <a:rPr sz="1800" b="0">
                <a:solidFill>
                  <a:srgbClr val="202B47"/>
                </a:solidFill>
                <a:latin typeface="Helvetica Neue"/>
                <a:ea typeface="Helvetica Neue"/>
                <a:cs typeface="Helvetica Neue"/>
              </a:rPr>
              <a:t>Choose a tone.</a:t>
            </a:r>
          </a:p>
        </p:txBody>
      </p:sp>
      <p:sp>
        <p:nvSpPr>
          <p:cNvPr id="8" name="">
            <a:extLst xmlns:a="http://schemas.openxmlformats.org/drawingml/2006/main">
              <a:ext uri="{FF2B5EF4-FFF2-40B4-BE49-F238E27FC236}">
                <a16:creationId xmlns:a16="http://schemas.microsoft.com/office/drawing/2014/main" id="{5E17E0D0-2365-4A8C-9659-C0FF5330E34D}"/>
              </a:ext>
            </a:extLst>
          </p:cNvPr>
          <p:cNvSpPr>
            <a:spLocks xmlns:a="http://schemas.openxmlformats.org/drawingml/2006/main" noGrp="1"/>
          </p:cNvSpPr>
          <p:nvPr/>
        </p:nvSpPr>
        <p:spPr>
          <a:xfrm xmlns:a="http://schemas.openxmlformats.org/drawingml/2006/main">
            <a:off x="8362950" y="1762125"/>
            <a:ext cx="295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650" b="1">
                <a:solidFill>
                  <a:srgbClr val="4869B3"/>
                </a:solidFill>
                <a:latin typeface="Helvetica Neue"/>
                <a:ea typeface="Helvetica Neue"/>
                <a:cs typeface="Helvetica Neue"/>
              </a:defRPr>
            </a:pPr>
            <a:r>
              <a:rPr sz="4650" b="1">
                <a:solidFill>
                  <a:srgbClr val="4869B3"/>
                </a:solidFill>
                <a:latin typeface="Helvetica Neue"/>
                <a:ea typeface="Helvetica Neue"/>
                <a:cs typeface="Helvetica Neue"/>
              </a:rPr>
              <a:t/>
            </a:r>
          </a:p>
        </p:txBody>
      </p:sp>
      <p:sp>
        <p:nvSpPr>
          <p:cNvPr id="9" name="">
            <a:extLst xmlns:a="http://schemas.openxmlformats.org/drawingml/2006/main">
              <a:ext uri="{FF2B5EF4-FFF2-40B4-BE49-F238E27FC236}">
                <a16:creationId xmlns:a16="http://schemas.microsoft.com/office/drawing/2014/main" id="{C2F0E499-9311-4D50-8DE0-884568068C7F}"/>
              </a:ext>
            </a:extLst>
          </p:cNvPr>
          <p:cNvSpPr>
            <a:spLocks xmlns:a="http://schemas.openxmlformats.org/drawingml/2006/main" noGrp="1"/>
          </p:cNvSpPr>
          <p:nvPr/>
        </p:nvSpPr>
        <p:spPr>
          <a:xfrm xmlns:a="http://schemas.openxmlformats.org/drawingml/2006/main">
            <a:off x="7848600" y="1619250"/>
            <a:ext cx="3657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202B47"/>
                </a:solidFill>
                <a:latin typeface="Helvetica Neue"/>
                <a:ea typeface="Helvetica Neue"/>
                <a:cs typeface="Helvetica Neue"/>
              </a:defRPr>
            </a:pPr>
            <a:r>
              <a:rPr sz="1950" b="1">
                <a:solidFill>
                  <a:srgbClr val="202B47"/>
                </a:solidFill>
                <a:latin typeface="Helvetica Neue"/>
                <a:ea typeface="Helvetica Neue"/>
                <a:cs typeface="Helvetica Neue"/>
              </a:rPr>
              <a:t>03 Get a suggestion</a:t>
            </a:r>
          </a:p>
        </p:txBody>
      </p:sp>
      <p:sp>
        <p:nvSpPr>
          <p:cNvPr id="10" name="">
            <a:extLst xmlns:a="http://schemas.openxmlformats.org/drawingml/2006/main">
              <a:ext uri="{FF2B5EF4-FFF2-40B4-BE49-F238E27FC236}">
                <a16:creationId xmlns:a16="http://schemas.microsoft.com/office/drawing/2014/main" id="{554032D4-5AB6-4839-A984-4E7D9728DCD9}"/>
              </a:ext>
            </a:extLst>
          </p:cNvPr>
          <p:cNvSpPr>
            <a:spLocks xmlns:a="http://schemas.openxmlformats.org/drawingml/2006/main" noGrp="1"/>
          </p:cNvSpPr>
          <p:nvPr/>
        </p:nvSpPr>
        <p:spPr>
          <a:xfrm xmlns:a="http://schemas.openxmlformats.org/drawingml/2006/main">
            <a:off x="7848600" y="5562600"/>
            <a:ext cx="3657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2B47"/>
                </a:solidFill>
                <a:latin typeface="Helvetica Neue"/>
                <a:ea typeface="Helvetica Neue"/>
                <a:cs typeface="Helvetica Neue"/>
              </a:defRPr>
            </a:pPr>
            <a:r>
              <a:rPr sz="1800" b="0">
                <a:solidFill>
                  <a:srgbClr val="202B47"/>
                </a:solidFill>
                <a:latin typeface="Helvetica Neue"/>
                <a:ea typeface="Helvetica Neue"/>
                <a:cs typeface="Helvetica Neue"/>
              </a:rPr>
              <a:t>A reply in your own voice,</a:t>
            </a:r>
          </a:p>
          <a:p xmlns:a="http://schemas.openxmlformats.org/drawingml/2006/main">
            <a:pPr>
              <a:buNone/>
              <a:defRPr sz="1800" b="0">
                <a:solidFill>
                  <a:srgbClr val="202B47"/>
                </a:solidFill>
                <a:latin typeface="Helvetica Neue"/>
                <a:ea typeface="Helvetica Neue"/>
                <a:cs typeface="Helvetica Neue"/>
              </a:defRPr>
            </a:pPr>
            <a:r>
              <a:rPr sz="1800" b="0">
                <a:solidFill>
                  <a:srgbClr val="202B47"/>
                </a:solidFill>
                <a:latin typeface="Helvetica Neue"/>
                <a:ea typeface="Helvetica Neue"/>
                <a:cs typeface="Helvetica Neue"/>
              </a:rPr>
              <a:t>right in your keyboard.</a:t>
            </a:r>
          </a:p>
          <a:p xmlns:a="http://schemas.openxmlformats.org/drawingml/2006/main">
            <a:pPr>
              <a:buNone/>
              <a:defRPr sz="1800" b="0">
                <a:solidFill>
                  <a:srgbClr val="202B47"/>
                </a:solidFill>
                <a:latin typeface="Helvetica Neue"/>
                <a:ea typeface="Helvetica Neue"/>
                <a:cs typeface="Helvetica Neue"/>
              </a:defRPr>
            </a:pPr>
            <a:r>
              <a:rPr sz="1800" b="0">
                <a:solidFill>
                  <a:srgbClr val="202B47"/>
                </a:solidFill>
                <a:latin typeface="Helvetica Neue"/>
                <a:ea typeface="Helvetica Neue"/>
                <a:cs typeface="Helvetica Neue"/>
              </a:rPr>
              <a:t>You review, edit, and send.</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220b14603ed4175"/>
          <a:srcRect xmlns:a="http://schemas.openxmlformats.org/drawingml/2006/main" l="3831" t="19575" r="3831" b="27267"/>
          <a:stretch xmlns:a="http://schemas.openxmlformats.org/drawingml/2006/main"/>
        </p:blipFill>
        <p:spPr>
          <a:xfrm xmlns:a="http://schemas.openxmlformats.org/drawingml/2006/main">
            <a:off x="685800" y="2247900"/>
            <a:ext cx="3143250" cy="2771538"/>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22bd838add6d4ee4"/>
          <a:srcRect xmlns:a="http://schemas.openxmlformats.org/drawingml/2006/main" l="0" t="52991" r="0" b="7265"/>
          <a:stretch xmlns:a="http://schemas.openxmlformats.org/drawingml/2006/main"/>
        </p:blipFill>
        <p:spPr>
          <a:xfrm xmlns:a="http://schemas.openxmlformats.org/drawingml/2006/main">
            <a:off x="4191000" y="2247900"/>
            <a:ext cx="3352800" cy="2887133"/>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ffb476a5f7144aa"/>
          <a:srcRect xmlns:a="http://schemas.openxmlformats.org/drawingml/2006/main" l="0" t="52991" r="0" b="7692"/>
          <a:stretch xmlns:a="http://schemas.openxmlformats.org/drawingml/2006/main"/>
        </p:blipFill>
        <p:spPr>
          <a:xfrm xmlns:a="http://schemas.openxmlformats.org/drawingml/2006/main">
            <a:off x="7848600" y="2247900"/>
            <a:ext cx="3657600" cy="3115733"/>
          </a:xfrm>
          <a:prstGeom xmlns:a="http://schemas.openxmlformats.org/drawingml/2006/main" prst="rect">
            <a:avLst/>
          </a:prstGeom>
        </p:spPr>
      </p:pic>
    </p:spTree>
    <p:extLst>
      <p:ext uri="{BB962C8B-B14F-4D97-AF65-F5344CB8AC3E}">
        <p14:creationId xmlns:p14="http://schemas.microsoft.com/office/powerpoint/2010/main" val="1823605214"/>
      </p:ext>
    </p:extLst>
  </p:cSld>
</p:sld>
</file>

<file path=ppt/slides/slide4.xml><?xml version="1.0" encoding="utf-8"?>
<p:sld xmlns:p="http://schemas.openxmlformats.org/presentationml/2006/main">
  <p:cSld>
    <p:bg>
      <p:bgPr>
        <a:solidFill xmlns:a="http://schemas.openxmlformats.org/drawingml/2006/main">
          <a:srgbClr val="F5F6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9CBCEA-986C-46AB-A177-BF2DD86CDC64}"/>
              </a:ext>
            </a:extLst>
          </p:cNvPr>
          <p:cNvSpPr>
            <a:spLocks xmlns:a="http://schemas.openxmlformats.org/drawingml/2006/main" noGrp="1"/>
          </p:cNvSpPr>
          <p:nvPr/>
        </p:nvSpPr>
        <p:spPr>
          <a:xfrm xmlns:a="http://schemas.openxmlformats.org/drawingml/2006/main">
            <a:off x="647700" y="495300"/>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02B45"/>
                </a:solidFill>
                <a:latin typeface="Helvetica Neue"/>
                <a:ea typeface="Helvetica Neue"/>
                <a:cs typeface="Helvetica Neue"/>
              </a:defRPr>
            </a:pPr>
            <a:r>
              <a:rPr sz="3450" b="1">
                <a:solidFill>
                  <a:srgbClr val="202B45"/>
                </a:solidFill>
                <a:latin typeface="Helvetica Neue"/>
                <a:ea typeface="Helvetica Neue"/>
                <a:cs typeface="Helvetica Neue"/>
              </a:rPr>
              <a:t>Memory keeps up with the conversation</a:t>
            </a:r>
          </a:p>
        </p:txBody>
      </p:sp>
      <p:sp>
        <p:nvSpPr>
          <p:cNvPr id="6" name="">
            <a:extLst xmlns:a="http://schemas.openxmlformats.org/drawingml/2006/main">
              <a:ext uri="{FF2B5EF4-FFF2-40B4-BE49-F238E27FC236}">
                <a16:creationId xmlns:a16="http://schemas.microsoft.com/office/drawing/2014/main" id="{7FAFF6D4-DA9A-4E94-97EF-FD610ABCACD7}"/>
              </a:ext>
            </a:extLst>
          </p:cNvPr>
          <p:cNvSpPr>
            <a:spLocks xmlns:a="http://schemas.openxmlformats.org/drawingml/2006/main" noGrp="1"/>
          </p:cNvSpPr>
          <p:nvPr/>
        </p:nvSpPr>
        <p:spPr>
          <a:xfrm xmlns:a="http://schemas.openxmlformats.org/drawingml/2006/main">
            <a:off x="723900" y="1552575"/>
            <a:ext cx="5286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8647B"/>
                </a:solidFill>
                <a:latin typeface="Helvetica Neue"/>
                <a:ea typeface="Helvetica Neue"/>
                <a:cs typeface="Helvetica Neue"/>
              </a:defRPr>
            </a:pPr>
            <a:r>
              <a:rPr sz="1800" b="0">
                <a:solidFill>
                  <a:srgbClr val="58647B"/>
                </a:solidFill>
                <a:latin typeface="Helvetica Neue"/>
                <a:ea typeface="Helvetica Neue"/>
                <a:cs typeface="Helvetica Neue"/>
              </a:rPr>
              <a:t>Marta · demo conversation</a:t>
            </a:r>
          </a:p>
        </p:txBody>
      </p:sp>
      <p:sp>
        <p:nvSpPr>
          <p:cNvPr id="7" name="">
            <a:extLst xmlns:a="http://schemas.openxmlformats.org/drawingml/2006/main">
              <a:ext uri="{FF2B5EF4-FFF2-40B4-BE49-F238E27FC236}">
                <a16:creationId xmlns:a16="http://schemas.microsoft.com/office/drawing/2014/main" id="{0B6FA32B-9124-40C3-81FB-83B1D40B93BD}"/>
              </a:ext>
            </a:extLst>
          </p:cNvPr>
          <p:cNvSpPr>
            <a:spLocks xmlns:a="http://schemas.openxmlformats.org/drawingml/2006/main" noGrp="1"/>
          </p:cNvSpPr>
          <p:nvPr/>
        </p:nvSpPr>
        <p:spPr>
          <a:xfrm xmlns:a="http://schemas.openxmlformats.org/drawingml/2006/main">
            <a:off x="723900" y="2028825"/>
            <a:ext cx="4914900" cy="838200"/>
          </a:xfrm>
          <a:prstGeom xmlns:a="http://schemas.openxmlformats.org/drawingml/2006/main" prst="roundRect">
            <a:avLst>
              <a:gd name="adj" fmla="val 22727"/>
            </a:avLst>
          </a:prstGeom>
          <a:solidFill xmlns:a="http://schemas.openxmlformats.org/drawingml/2006/main">
            <a:srgbClr val="E6EBF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1FF050A-8979-4169-9796-DD7EABC24A5F}"/>
              </a:ext>
            </a:extLst>
          </p:cNvPr>
          <p:cNvSpPr>
            <a:spLocks xmlns:a="http://schemas.openxmlformats.org/drawingml/2006/main" noGrp="1"/>
          </p:cNvSpPr>
          <p:nvPr/>
        </p:nvSpPr>
        <p:spPr>
          <a:xfrm xmlns:a="http://schemas.openxmlformats.org/drawingml/2006/main">
            <a:off x="895350" y="2143125"/>
            <a:ext cx="457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2B45"/>
                </a:solidFill>
                <a:latin typeface="Helvetica Neue"/>
                <a:ea typeface="Helvetica Neue"/>
                <a:cs typeface="Helvetica Neue"/>
              </a:defRPr>
            </a:pPr>
            <a:r>
              <a:rPr sz="1800" b="0">
                <a:solidFill>
                  <a:srgbClr val="202B45"/>
                </a:solidFill>
                <a:latin typeface="Helvetica Neue"/>
                <a:ea typeface="Helvetica Neue"/>
                <a:cs typeface="Helvetica Neue"/>
              </a:rPr>
              <a:t>thanks for the ticket! i owe you 50 zł.</a:t>
            </a:r>
          </a:p>
          <a:p xmlns:a="http://schemas.openxmlformats.org/drawingml/2006/main">
            <a:pPr>
              <a:buNone/>
              <a:defRPr sz="1800" b="0">
                <a:solidFill>
                  <a:srgbClr val="202B45"/>
                </a:solidFill>
                <a:latin typeface="Helvetica Neue"/>
                <a:ea typeface="Helvetica Neue"/>
                <a:cs typeface="Helvetica Neue"/>
              </a:defRPr>
            </a:pPr>
            <a:r>
              <a:rPr sz="1800" b="0">
                <a:solidFill>
                  <a:srgbClr val="202B45"/>
                </a:solidFill>
                <a:latin typeface="Helvetica Neue"/>
                <a:ea typeface="Helvetica Neue"/>
                <a:cs typeface="Helvetica Neue"/>
              </a:rPr>
              <a:t>i’ll pay you back tomorrow.</a:t>
            </a:r>
          </a:p>
        </p:txBody>
      </p:sp>
      <p:sp>
        <p:nvSpPr>
          <p:cNvPr id="9" name="">
            <a:extLst xmlns:a="http://schemas.openxmlformats.org/drawingml/2006/main">
              <a:ext uri="{FF2B5EF4-FFF2-40B4-BE49-F238E27FC236}">
                <a16:creationId xmlns:a16="http://schemas.microsoft.com/office/drawing/2014/main" id="{79817C86-8EC8-4ECB-AFD6-E441098EA70D}"/>
              </a:ext>
            </a:extLst>
          </p:cNvPr>
          <p:cNvSpPr>
            <a:spLocks xmlns:a="http://schemas.openxmlformats.org/drawingml/2006/main" noGrp="1"/>
          </p:cNvSpPr>
          <p:nvPr/>
        </p:nvSpPr>
        <p:spPr>
          <a:xfrm xmlns:a="http://schemas.openxmlformats.org/drawingml/2006/main">
            <a:off x="1314450" y="3000375"/>
            <a:ext cx="4238625" cy="838200"/>
          </a:xfrm>
          <a:prstGeom xmlns:a="http://schemas.openxmlformats.org/drawingml/2006/main" prst="roundRect">
            <a:avLst>
              <a:gd name="adj" fmla="val 22727"/>
            </a:avLst>
          </a:prstGeom>
          <a:solidFill xmlns:a="http://schemas.openxmlformats.org/drawingml/2006/main">
            <a:srgbClr val="E6EB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2FD0498-2D76-4D01-ADCC-5D4AF12D61AF}"/>
              </a:ext>
            </a:extLst>
          </p:cNvPr>
          <p:cNvSpPr>
            <a:spLocks xmlns:a="http://schemas.openxmlformats.org/drawingml/2006/main" noGrp="1"/>
          </p:cNvSpPr>
          <p:nvPr/>
        </p:nvSpPr>
        <p:spPr>
          <a:xfrm xmlns:a="http://schemas.openxmlformats.org/drawingml/2006/main">
            <a:off x="1485900" y="3114675"/>
            <a:ext cx="3895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2B45"/>
                </a:solidFill>
                <a:latin typeface="Helvetica Neue"/>
                <a:ea typeface="Helvetica Neue"/>
                <a:cs typeface="Helvetica Neue"/>
              </a:defRPr>
            </a:pPr>
            <a:r>
              <a:rPr sz="1800" b="0">
                <a:solidFill>
                  <a:srgbClr val="202B45"/>
                </a:solidFill>
                <a:latin typeface="Helvetica Neue"/>
                <a:ea typeface="Helvetica Neue"/>
                <a:cs typeface="Helvetica Neue"/>
              </a:rPr>
              <a:t>actually, the day after tomorrow,</a:t>
            </a:r>
          </a:p>
          <a:p xmlns:a="http://schemas.openxmlformats.org/drawingml/2006/main">
            <a:pPr>
              <a:buNone/>
              <a:defRPr sz="1800" b="0">
                <a:solidFill>
                  <a:srgbClr val="202B45"/>
                </a:solidFill>
                <a:latin typeface="Helvetica Neue"/>
                <a:ea typeface="Helvetica Neue"/>
                <a:cs typeface="Helvetica Neue"/>
              </a:defRPr>
            </a:pPr>
            <a:r>
              <a:rPr sz="1800" b="0">
                <a:solidFill>
                  <a:srgbClr val="202B45"/>
                </a:solidFill>
                <a:latin typeface="Helvetica Neue"/>
                <a:ea typeface="Helvetica Neue"/>
                <a:cs typeface="Helvetica Neue"/>
              </a:rPr>
              <a:t>is that okay?</a:t>
            </a:r>
          </a:p>
        </p:txBody>
      </p:sp>
      <p:sp>
        <p:nvSpPr>
          <p:cNvPr id="11" name="">
            <a:extLst xmlns:a="http://schemas.openxmlformats.org/drawingml/2006/main">
              <a:ext uri="{FF2B5EF4-FFF2-40B4-BE49-F238E27FC236}">
                <a16:creationId xmlns:a16="http://schemas.microsoft.com/office/drawing/2014/main" id="{C933761F-2672-4B3A-A5D3-05F3CC5A6A88}"/>
              </a:ext>
            </a:extLst>
          </p:cNvPr>
          <p:cNvSpPr>
            <a:spLocks xmlns:a="http://schemas.openxmlformats.org/drawingml/2006/main" noGrp="1"/>
          </p:cNvSpPr>
          <p:nvPr/>
        </p:nvSpPr>
        <p:spPr>
          <a:xfrm xmlns:a="http://schemas.openxmlformats.org/drawingml/2006/main">
            <a:off x="762000" y="3971925"/>
            <a:ext cx="4914900" cy="838200"/>
          </a:xfrm>
          <a:prstGeom xmlns:a="http://schemas.openxmlformats.org/drawingml/2006/main" prst="roundRect">
            <a:avLst>
              <a:gd name="adj" fmla="val 22727"/>
            </a:avLst>
          </a:prstGeom>
          <a:solidFill xmlns:a="http://schemas.openxmlformats.org/drawingml/2006/main">
            <a:srgbClr val="E6EBF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A1BF0B0-4A51-4420-9B77-4942D7EE6EC8}"/>
              </a:ext>
            </a:extLst>
          </p:cNvPr>
          <p:cNvSpPr>
            <a:spLocks xmlns:a="http://schemas.openxmlformats.org/drawingml/2006/main" noGrp="1"/>
          </p:cNvSpPr>
          <p:nvPr/>
        </p:nvSpPr>
        <p:spPr>
          <a:xfrm xmlns:a="http://schemas.openxmlformats.org/drawingml/2006/main">
            <a:off x="933450" y="4086225"/>
            <a:ext cx="457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2B45"/>
                </a:solidFill>
                <a:latin typeface="Helvetica Neue"/>
                <a:ea typeface="Helvetica Neue"/>
                <a:cs typeface="Helvetica Neue"/>
              </a:defRPr>
            </a:pPr>
            <a:r>
              <a:rPr sz="1800" b="0">
                <a:solidFill>
                  <a:srgbClr val="202B45"/>
                </a:solidFill>
                <a:latin typeface="Helvetica Neue"/>
                <a:ea typeface="Helvetica Neue"/>
                <a:cs typeface="Helvetica Neue"/>
              </a:rPr>
              <a:t>sent 20 zł out of the 50 zł.</a:t>
            </a:r>
          </a:p>
          <a:p xmlns:a="http://schemas.openxmlformats.org/drawingml/2006/main">
            <a:pPr>
              <a:buNone/>
              <a:defRPr sz="1800" b="0">
                <a:solidFill>
                  <a:srgbClr val="202B45"/>
                </a:solidFill>
                <a:latin typeface="Helvetica Neue"/>
                <a:ea typeface="Helvetica Neue"/>
                <a:cs typeface="Helvetica Neue"/>
              </a:defRPr>
            </a:pPr>
            <a:r>
              <a:rPr sz="1800" b="0">
                <a:solidFill>
                  <a:srgbClr val="202B45"/>
                </a:solidFill>
                <a:latin typeface="Helvetica Neue"/>
                <a:ea typeface="Helvetica Neue"/>
                <a:cs typeface="Helvetica Neue"/>
              </a:rPr>
              <a:t>i’ll send the rest the day after tomorrow.</a:t>
            </a:r>
          </a:p>
        </p:txBody>
      </p:sp>
      <p:sp>
        <p:nvSpPr>
          <p:cNvPr id="13" name="">
            <a:extLst xmlns:a="http://schemas.openxmlformats.org/drawingml/2006/main">
              <a:ext uri="{FF2B5EF4-FFF2-40B4-BE49-F238E27FC236}">
                <a16:creationId xmlns:a16="http://schemas.microsoft.com/office/drawing/2014/main" id="{09C001BD-715A-48CE-82AA-F827FF10A23F}"/>
              </a:ext>
            </a:extLst>
          </p:cNvPr>
          <p:cNvSpPr>
            <a:spLocks xmlns:a="http://schemas.openxmlformats.org/drawingml/2006/main" noGrp="1"/>
          </p:cNvSpPr>
          <p:nvPr/>
        </p:nvSpPr>
        <p:spPr>
          <a:xfrm xmlns:a="http://schemas.openxmlformats.org/drawingml/2006/main">
            <a:off x="1209675" y="4943475"/>
            <a:ext cx="4410075" cy="609600"/>
          </a:xfrm>
          <a:prstGeom xmlns:a="http://schemas.openxmlformats.org/drawingml/2006/main" prst="roundRect">
            <a:avLst>
              <a:gd name="adj" fmla="val 31250"/>
            </a:avLst>
          </a:prstGeom>
          <a:solidFill xmlns:a="http://schemas.openxmlformats.org/drawingml/2006/main">
            <a:srgbClr val="E6EBF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922FA9A-CAA5-4C4D-B4CC-CAFF65C5E09E}"/>
              </a:ext>
            </a:extLst>
          </p:cNvPr>
          <p:cNvSpPr>
            <a:spLocks xmlns:a="http://schemas.openxmlformats.org/drawingml/2006/main" noGrp="1"/>
          </p:cNvSpPr>
          <p:nvPr/>
        </p:nvSpPr>
        <p:spPr>
          <a:xfrm xmlns:a="http://schemas.openxmlformats.org/drawingml/2006/main">
            <a:off x="1381125" y="5057775"/>
            <a:ext cx="4067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202B45"/>
                </a:solidFill>
                <a:latin typeface="Helvetica Neue"/>
                <a:ea typeface="Helvetica Neue"/>
                <a:cs typeface="Helvetica Neue"/>
              </a:defRPr>
            </a:pPr>
            <a:r>
              <a:rPr sz="1800" b="0">
                <a:solidFill>
                  <a:srgbClr val="202B45"/>
                </a:solidFill>
                <a:latin typeface="Helvetica Neue"/>
                <a:ea typeface="Helvetica Neue"/>
                <a:cs typeface="Helvetica Neue"/>
              </a:rPr>
              <a:t>sent the remaining 30 zł too.</a:t>
            </a:r>
          </a:p>
        </p:txBody>
      </p:sp>
      <p:sp>
        <p:nvSpPr>
          <p:cNvPr id="15" name="">
            <a:extLst xmlns:a="http://schemas.openxmlformats.org/drawingml/2006/main">
              <a:ext uri="{FF2B5EF4-FFF2-40B4-BE49-F238E27FC236}">
                <a16:creationId xmlns:a16="http://schemas.microsoft.com/office/drawing/2014/main" id="{8C2F44C4-F4D1-48E6-8AFA-17B20FE2B65F}"/>
              </a:ext>
            </a:extLst>
          </p:cNvPr>
          <p:cNvSpPr>
            <a:spLocks xmlns:a="http://schemas.openxmlformats.org/drawingml/2006/main" noGrp="1"/>
          </p:cNvSpPr>
          <p:nvPr/>
        </p:nvSpPr>
        <p:spPr>
          <a:xfrm xmlns:a="http://schemas.openxmlformats.org/drawingml/2006/main">
            <a:off x="2057400" y="5705475"/>
            <a:ext cx="4000500" cy="609600"/>
          </a:xfrm>
          <a:prstGeom xmlns:a="http://schemas.openxmlformats.org/drawingml/2006/main" prst="roundRect">
            <a:avLst>
              <a:gd name="adj" fmla="val 31250"/>
            </a:avLst>
          </a:prstGeom>
          <a:solidFill xmlns:a="http://schemas.openxmlformats.org/drawingml/2006/main">
            <a:srgbClr val="4869B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3E42372-DD24-4127-9372-0BBC4E3FE972}"/>
              </a:ext>
            </a:extLst>
          </p:cNvPr>
          <p:cNvSpPr>
            <a:spLocks xmlns:a="http://schemas.openxmlformats.org/drawingml/2006/main" noGrp="1"/>
          </p:cNvSpPr>
          <p:nvPr/>
        </p:nvSpPr>
        <p:spPr>
          <a:xfrm xmlns:a="http://schemas.openxmlformats.org/drawingml/2006/main">
            <a:off x="2228850" y="5819775"/>
            <a:ext cx="365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FFFFFF"/>
                </a:solidFill>
                <a:latin typeface="Helvetica Neue"/>
                <a:ea typeface="Helvetica Neue"/>
                <a:cs typeface="Helvetica Neue"/>
              </a:defRPr>
            </a:pPr>
            <a:r>
              <a:rPr sz="1800" b="0">
                <a:solidFill>
                  <a:srgbClr val="FFFFFF"/>
                </a:solidFill>
                <a:latin typeface="Helvetica Neue"/>
                <a:ea typeface="Helvetica Neue"/>
                <a:cs typeface="Helvetica Neue"/>
              </a:rPr>
              <a:t>got it, we’re all settled :)</a:t>
            </a:r>
          </a:p>
        </p:txBody>
      </p:sp>
      <p:sp>
        <p:nvSpPr>
          <p:cNvPr id="17" name="">
            <a:extLst xmlns:a="http://schemas.openxmlformats.org/drawingml/2006/main">
              <a:ext uri="{FF2B5EF4-FFF2-40B4-BE49-F238E27FC236}">
                <a16:creationId xmlns:a16="http://schemas.microsoft.com/office/drawing/2014/main" id="{3F7F4B7F-5846-4189-A1BD-71B41BDE9CB0}"/>
              </a:ext>
            </a:extLst>
          </p:cNvPr>
          <p:cNvSpPr>
            <a:spLocks xmlns:a="http://schemas.openxmlformats.org/drawingml/2006/main" noGrp="1"/>
          </p:cNvSpPr>
          <p:nvPr/>
        </p:nvSpPr>
        <p:spPr>
          <a:xfrm xmlns:a="http://schemas.openxmlformats.org/drawingml/2006/main">
            <a:off x="6800850" y="1552575"/>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4869B3"/>
                </a:solidFill>
                <a:latin typeface="Helvetica Neue"/>
                <a:ea typeface="Helvetica Neue"/>
                <a:cs typeface="Helvetica Neue"/>
              </a:defRPr>
            </a:pPr>
            <a:r>
              <a:rPr sz="2400" b="1">
                <a:solidFill>
                  <a:srgbClr val="4869B3"/>
                </a:solidFill>
                <a:latin typeface="Helvetica Neue"/>
                <a:ea typeface="Helvetica Neue"/>
                <a:cs typeface="Helvetica Neue"/>
              </a:rPr>
              <a:t>Cue remembers</a:t>
            </a:r>
          </a:p>
        </p:txBody>
      </p:sp>
      <p:sp>
        <p:nvSpPr>
          <p:cNvPr id="18" name="">
            <a:extLst xmlns:a="http://schemas.openxmlformats.org/drawingml/2006/main">
              <a:ext uri="{FF2B5EF4-FFF2-40B4-BE49-F238E27FC236}">
                <a16:creationId xmlns:a16="http://schemas.microsoft.com/office/drawing/2014/main" id="{CA2AB0ED-F587-4C34-8B63-C775F6DE62A9}"/>
              </a:ext>
            </a:extLst>
          </p:cNvPr>
          <p:cNvSpPr>
            <a:spLocks xmlns:a="http://schemas.openxmlformats.org/drawingml/2006/main" noGrp="1"/>
          </p:cNvSpPr>
          <p:nvPr/>
        </p:nvSpPr>
        <p:spPr>
          <a:xfrm xmlns:a="http://schemas.openxmlformats.org/drawingml/2006/main">
            <a:off x="6800850" y="21717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8647B"/>
                </a:solidFill>
                <a:latin typeface="Helvetica Neue"/>
                <a:ea typeface="Helvetica Neue"/>
                <a:cs typeface="Helvetica Neue"/>
              </a:defRPr>
            </a:pPr>
            <a:r>
              <a:rPr sz="1725" b="0">
                <a:solidFill>
                  <a:srgbClr val="58647B"/>
                </a:solidFill>
                <a:latin typeface="Helvetica Neue"/>
                <a:ea typeface="Helvetica Neue"/>
                <a:cs typeface="Helvetica Neue"/>
              </a:rPr>
              <a:t>Amount owed</a:t>
            </a:r>
          </a:p>
        </p:txBody>
      </p:sp>
      <p:sp>
        <p:nvSpPr>
          <p:cNvPr id="19" name="">
            <a:extLst xmlns:a="http://schemas.openxmlformats.org/drawingml/2006/main">
              <a:ext uri="{FF2B5EF4-FFF2-40B4-BE49-F238E27FC236}">
                <a16:creationId xmlns:a16="http://schemas.microsoft.com/office/drawing/2014/main" id="{07E32E6E-6A85-4FDC-8C55-78F0AFCF943A}"/>
              </a:ext>
            </a:extLst>
          </p:cNvPr>
          <p:cNvSpPr>
            <a:spLocks xmlns:a="http://schemas.openxmlformats.org/drawingml/2006/main" noGrp="1"/>
          </p:cNvSpPr>
          <p:nvPr/>
        </p:nvSpPr>
        <p:spPr>
          <a:xfrm xmlns:a="http://schemas.openxmlformats.org/drawingml/2006/main">
            <a:off x="9334500" y="2171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8647B"/>
                </a:solidFill>
                <a:latin typeface="Helvetica Neue"/>
                <a:ea typeface="Helvetica Neue"/>
                <a:cs typeface="Helvetica Neue"/>
              </a:defRPr>
            </a:pPr>
            <a:r>
              <a:rPr sz="1725" b="0">
                <a:solidFill>
                  <a:srgbClr val="58647B"/>
                </a:solidFill>
                <a:latin typeface="Helvetica Neue"/>
                <a:ea typeface="Helvetica Neue"/>
                <a:cs typeface="Helvetica Neue"/>
              </a:rPr>
              <a:t>Remaining</a:t>
            </a:r>
          </a:p>
        </p:txBody>
      </p:sp>
      <p:sp>
        <p:nvSpPr>
          <p:cNvPr id="20" name="">
            <a:extLst xmlns:a="http://schemas.openxmlformats.org/drawingml/2006/main">
              <a:ext uri="{FF2B5EF4-FFF2-40B4-BE49-F238E27FC236}">
                <a16:creationId xmlns:a16="http://schemas.microsoft.com/office/drawing/2014/main" id="{DF890054-A690-431E-8EEF-3600E6579530}"/>
              </a:ext>
            </a:extLst>
          </p:cNvPr>
          <p:cNvSpPr>
            <a:spLocks xmlns:a="http://schemas.openxmlformats.org/drawingml/2006/main" noGrp="1"/>
          </p:cNvSpPr>
          <p:nvPr/>
        </p:nvSpPr>
        <p:spPr>
          <a:xfrm xmlns:a="http://schemas.openxmlformats.org/drawingml/2006/main">
            <a:off x="6800850" y="2533650"/>
            <a:ext cx="209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1">
                <a:solidFill>
                  <a:srgbClr val="202B45"/>
                </a:solidFill>
                <a:latin typeface="Helvetica Neue"/>
                <a:ea typeface="Helvetica Neue"/>
                <a:cs typeface="Helvetica Neue"/>
              </a:defRPr>
            </a:pPr>
            <a:r>
              <a:rPr sz="4800" b="1">
                <a:solidFill>
                  <a:srgbClr val="202B45"/>
                </a:solidFill>
                <a:latin typeface="Helvetica Neue"/>
                <a:ea typeface="Helvetica Neue"/>
                <a:cs typeface="Helvetica Neue"/>
              </a:rPr>
              <a:t>50 zł</a:t>
            </a:r>
          </a:p>
        </p:txBody>
      </p:sp>
      <p:sp>
        <p:nvSpPr>
          <p:cNvPr id="21" name="">
            <a:extLst xmlns:a="http://schemas.openxmlformats.org/drawingml/2006/main">
              <a:ext uri="{FF2B5EF4-FFF2-40B4-BE49-F238E27FC236}">
                <a16:creationId xmlns:a16="http://schemas.microsoft.com/office/drawing/2014/main" id="{AF094B5F-19D6-478A-9578-BAE3D645C81E}"/>
              </a:ext>
            </a:extLst>
          </p:cNvPr>
          <p:cNvSpPr>
            <a:spLocks xmlns:a="http://schemas.openxmlformats.org/drawingml/2006/main" noGrp="1"/>
          </p:cNvSpPr>
          <p:nvPr/>
        </p:nvSpPr>
        <p:spPr>
          <a:xfrm xmlns:a="http://schemas.openxmlformats.org/drawingml/2006/main">
            <a:off x="8801100" y="2667000"/>
            <a:ext cx="66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58647B"/>
                </a:solidFill>
                <a:latin typeface="Helvetica Neue"/>
                <a:ea typeface="Helvetica Neue"/>
                <a:cs typeface="Helvetica Neue"/>
              </a:defRPr>
            </a:pPr>
            <a:r>
              <a:rPr sz="3150" b="0">
                <a:solidFill>
                  <a:srgbClr val="58647B"/>
                </a:solidFill>
                <a:latin typeface="Helvetica Neue"/>
                <a:ea typeface="Helvetica Neue"/>
                <a:cs typeface="Helvetica Neue"/>
              </a:rPr>
              <a:t>→</a:t>
            </a:r>
          </a:p>
        </p:txBody>
      </p:sp>
      <p:sp>
        <p:nvSpPr>
          <p:cNvPr id="22" name="">
            <a:extLst xmlns:a="http://schemas.openxmlformats.org/drawingml/2006/main">
              <a:ext uri="{FF2B5EF4-FFF2-40B4-BE49-F238E27FC236}">
                <a16:creationId xmlns:a16="http://schemas.microsoft.com/office/drawing/2014/main" id="{480AC615-2D6E-4A94-AFA0-0623060C15A3}"/>
              </a:ext>
            </a:extLst>
          </p:cNvPr>
          <p:cNvSpPr>
            <a:spLocks xmlns:a="http://schemas.openxmlformats.org/drawingml/2006/main" noGrp="1"/>
          </p:cNvSpPr>
          <p:nvPr/>
        </p:nvSpPr>
        <p:spPr>
          <a:xfrm xmlns:a="http://schemas.openxmlformats.org/drawingml/2006/main">
            <a:off x="9429750" y="2533650"/>
            <a:ext cx="219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1">
                <a:solidFill>
                  <a:srgbClr val="4869B3"/>
                </a:solidFill>
                <a:latin typeface="Helvetica Neue"/>
                <a:ea typeface="Helvetica Neue"/>
                <a:cs typeface="Helvetica Neue"/>
              </a:defRPr>
            </a:pPr>
            <a:r>
              <a:rPr sz="4800" b="1">
                <a:solidFill>
                  <a:srgbClr val="4869B3"/>
                </a:solidFill>
                <a:latin typeface="Helvetica Neue"/>
                <a:ea typeface="Helvetica Neue"/>
                <a:cs typeface="Helvetica Neue"/>
              </a:rPr>
              <a:t>30 zł</a:t>
            </a:r>
          </a:p>
        </p:txBody>
      </p:sp>
      <p:sp>
        <p:nvSpPr>
          <p:cNvPr id="23" name="">
            <a:extLst xmlns:a="http://schemas.openxmlformats.org/drawingml/2006/main">
              <a:ext uri="{FF2B5EF4-FFF2-40B4-BE49-F238E27FC236}">
                <a16:creationId xmlns:a16="http://schemas.microsoft.com/office/drawing/2014/main" id="{4C1BFFB7-9487-4AB3-B5B5-CEBAE76504A1}"/>
              </a:ext>
            </a:extLst>
          </p:cNvPr>
          <p:cNvSpPr>
            <a:spLocks xmlns:a="http://schemas.openxmlformats.org/drawingml/2006/main" noGrp="1"/>
          </p:cNvSpPr>
          <p:nvPr/>
        </p:nvSpPr>
        <p:spPr>
          <a:xfrm xmlns:a="http://schemas.openxmlformats.org/drawingml/2006/main">
            <a:off x="6800850" y="3419475"/>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2B765D"/>
                </a:solidFill>
                <a:latin typeface="Helvetica Neue"/>
                <a:ea typeface="Helvetica Neue"/>
                <a:cs typeface="Helvetica Neue"/>
              </a:defRPr>
            </a:pPr>
            <a:r>
              <a:rPr sz="2850" b="1">
                <a:solidFill>
                  <a:srgbClr val="2B765D"/>
                </a:solidFill>
                <a:latin typeface="Helvetica Neue"/>
                <a:ea typeface="Helvetica Neue"/>
                <a:cs typeface="Helvetica Neue"/>
              </a:rPr>
              <a:t>Settled in full</a:t>
            </a:r>
          </a:p>
        </p:txBody>
      </p:sp>
      <p:sp>
        <p:nvSpPr>
          <p:cNvPr id="24" name="">
            <a:extLst xmlns:a="http://schemas.openxmlformats.org/drawingml/2006/main">
              <a:ext uri="{FF2B5EF4-FFF2-40B4-BE49-F238E27FC236}">
                <a16:creationId xmlns:a16="http://schemas.microsoft.com/office/drawing/2014/main" id="{A560FBB5-A017-450B-BCDC-9FDC2DC78D8D}"/>
              </a:ext>
            </a:extLst>
          </p:cNvPr>
          <p:cNvSpPr>
            <a:spLocks xmlns:a="http://schemas.openxmlformats.org/drawingml/2006/main" noGrp="1"/>
          </p:cNvSpPr>
          <p:nvPr/>
        </p:nvSpPr>
        <p:spPr>
          <a:xfrm xmlns:a="http://schemas.openxmlformats.org/drawingml/2006/main">
            <a:off x="6800850" y="4591050"/>
            <a:ext cx="4705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8647B"/>
                </a:solidFill>
                <a:latin typeface="Helvetica Neue"/>
                <a:ea typeface="Helvetica Neue"/>
                <a:cs typeface="Helvetica Neue"/>
              </a:defRPr>
            </a:pPr>
            <a:r>
              <a:rPr sz="1725" b="0">
                <a:solidFill>
                  <a:srgbClr val="58647B"/>
                </a:solidFill>
                <a:latin typeface="Helvetica Neue"/>
                <a:ea typeface="Helvetica Neue"/>
                <a:cs typeface="Helvetica Neue"/>
              </a:rPr>
              <a:t>Cue’s saved note</a:t>
            </a:r>
          </a:p>
        </p:txBody>
      </p:sp>
      <p:sp>
        <p:nvSpPr>
          <p:cNvPr id="25" name="">
            <a:extLst xmlns:a="http://schemas.openxmlformats.org/drawingml/2006/main">
              <a:ext uri="{FF2B5EF4-FFF2-40B4-BE49-F238E27FC236}">
                <a16:creationId xmlns:a16="http://schemas.microsoft.com/office/drawing/2014/main" id="{F4A442A8-54E8-446A-A2DC-1A552C639EF0}"/>
              </a:ext>
            </a:extLst>
          </p:cNvPr>
          <p:cNvSpPr>
            <a:spLocks xmlns:a="http://schemas.openxmlformats.org/drawingml/2006/main" noGrp="1"/>
          </p:cNvSpPr>
          <p:nvPr/>
        </p:nvSpPr>
        <p:spPr>
          <a:xfrm xmlns:a="http://schemas.openxmlformats.org/drawingml/2006/main">
            <a:off x="6800850" y="5057775"/>
            <a:ext cx="47053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202B45"/>
                </a:solidFill>
                <a:latin typeface="Helvetica Neue"/>
                <a:ea typeface="Helvetica Neue"/>
                <a:cs typeface="Helvetica Neue"/>
              </a:defRPr>
            </a:pPr>
            <a:r>
              <a:rPr sz="2175" b="0">
                <a:solidFill>
                  <a:srgbClr val="202B45"/>
                </a:solidFill>
                <a:latin typeface="Helvetica Neue"/>
                <a:ea typeface="Helvetica Neue"/>
                <a:cs typeface="Helvetica Neue"/>
              </a:rPr>
              <a:t>“Marta paid you back the full 50 zł</a:t>
            </a:r>
          </a:p>
          <a:p xmlns:a="http://schemas.openxmlformats.org/drawingml/2006/main">
            <a:pPr>
              <a:buNone/>
              <a:defRPr sz="2175" b="0">
                <a:solidFill>
                  <a:srgbClr val="202B45"/>
                </a:solidFill>
                <a:latin typeface="Helvetica Neue"/>
                <a:ea typeface="Helvetica Neue"/>
                <a:cs typeface="Helvetica Neue"/>
              </a:defRPr>
            </a:pPr>
            <a:r>
              <a:rPr sz="2175" b="0">
                <a:solidFill>
                  <a:srgbClr val="202B45"/>
                </a:solidFill>
                <a:latin typeface="Helvetica Neue"/>
                <a:ea typeface="Helvetica Neue"/>
                <a:cs typeface="Helvetica Neue"/>
              </a:rPr>
              <a:t>for the ticket.”</a:t>
            </a:r>
          </a:p>
        </p:txBody>
      </p:sp>
      <p:sp>
        <p:nvSpPr>
          <p:cNvPr id="26" name="">
            <a:extLst xmlns:a="http://schemas.openxmlformats.org/drawingml/2006/main">
              <a:ext uri="{FF2B5EF4-FFF2-40B4-BE49-F238E27FC236}">
                <a16:creationId xmlns:a16="http://schemas.microsoft.com/office/drawing/2014/main" id="{7C3D81ED-C98E-4A65-AE45-F0CCC93AF600}"/>
              </a:ext>
            </a:extLst>
          </p:cNvPr>
          <p:cNvSpPr>
            <a:spLocks xmlns:a="http://schemas.openxmlformats.org/drawingml/2006/main" noGrp="1"/>
          </p:cNvSpPr>
          <p:nvPr/>
        </p:nvSpPr>
        <p:spPr>
          <a:xfrm xmlns:a="http://schemas.openxmlformats.org/drawingml/2006/main">
            <a:off x="6800850" y="4000500"/>
            <a:ext cx="4705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8647B"/>
                </a:solidFill>
                <a:latin typeface="Helvetica Neue"/>
                <a:ea typeface="Helvetica Neue"/>
                <a:cs typeface="Helvetica Neue"/>
              </a:defRPr>
            </a:pPr>
            <a:r>
              <a:rPr sz="1725" b="0">
                <a:solidFill>
                  <a:srgbClr val="58647B"/>
                </a:solidFill>
                <a:latin typeface="Helvetica Neue"/>
                <a:ea typeface="Helvetica Neue"/>
                <a:cs typeface="Helvetica Neue"/>
              </a:rPr>
              <a:t>Tomorrow → day after tomorrow</a:t>
            </a:r>
          </a:p>
        </p:txBody>
      </p:sp>
    </p:spTree>
    <p:extLst>
      <p:ext uri="{BB962C8B-B14F-4D97-AF65-F5344CB8AC3E}">
        <p14:creationId xmlns:p14="http://schemas.microsoft.com/office/powerpoint/2010/main" val="1239181148"/>
      </p:ext>
    </p:extLst>
  </p:cSld>
</p:sld>
</file>

<file path=ppt/slides/slide5.xml><?xml version="1.0" encoding="utf-8"?>
<p:sld xmlns:p="http://schemas.openxmlformats.org/presentationml/2006/main">
  <p:cSld>
    <p:bg>
      <p:bgPr>
        <a:solidFill xmlns:a="http://schemas.openxmlformats.org/drawingml/2006/main">
          <a:srgbClr val="F5F6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179AE2-CDFA-4811-9632-8356D866143F}"/>
              </a:ext>
            </a:extLst>
          </p:cNvPr>
          <p:cNvSpPr>
            <a:spLocks xmlns:a="http://schemas.openxmlformats.org/drawingml/2006/main" noGrp="1"/>
          </p:cNvSpPr>
          <p:nvPr/>
        </p:nvSpPr>
        <p:spPr>
          <a:xfrm xmlns:a="http://schemas.openxmlformats.org/drawingml/2006/main">
            <a:off x="647700" y="495300"/>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02B45"/>
                </a:solidFill>
                <a:latin typeface="Helvetica Neue"/>
                <a:ea typeface="Helvetica Neue"/>
                <a:cs typeface="Helvetica Neue"/>
              </a:defRPr>
            </a:pPr>
            <a:r>
              <a:rPr sz="3450" b="1">
                <a:solidFill>
                  <a:srgbClr val="202B45"/>
                </a:solidFill>
                <a:latin typeface="Helvetica Neue"/>
                <a:ea typeface="Helvetica Neue"/>
                <a:cs typeface="Helvetica Neue"/>
              </a:rPr>
              <a:t>A reply that sounds like you</a:t>
            </a:r>
          </a:p>
        </p:txBody>
      </p:sp>
      <p:sp>
        <p:nvSpPr>
          <p:cNvPr id="9" name="">
            <a:extLst xmlns:a="http://schemas.openxmlformats.org/drawingml/2006/main">
              <a:ext uri="{FF2B5EF4-FFF2-40B4-BE49-F238E27FC236}">
                <a16:creationId xmlns:a16="http://schemas.microsoft.com/office/drawing/2014/main" id="{FACE2D49-8AF5-4178-872C-8C678AA5A942}"/>
              </a:ext>
            </a:extLst>
          </p:cNvPr>
          <p:cNvSpPr>
            <a:spLocks xmlns:a="http://schemas.openxmlformats.org/drawingml/2006/main" noGrp="1"/>
          </p:cNvSpPr>
          <p:nvPr/>
        </p:nvSpPr>
        <p:spPr>
          <a:xfrm xmlns:a="http://schemas.openxmlformats.org/drawingml/2006/main">
            <a:off x="3190875" y="1647825"/>
            <a:ext cx="581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8647B"/>
                </a:solidFill>
                <a:latin typeface="Helvetica Neue"/>
                <a:ea typeface="Helvetica Neue"/>
                <a:cs typeface="Helvetica Neue"/>
              </a:defRPr>
            </a:pPr>
            <a:r>
              <a:rPr sz="1725" b="0">
                <a:solidFill>
                  <a:srgbClr val="58647B"/>
                </a:solidFill>
                <a:latin typeface="Helvetica Neue"/>
                <a:ea typeface="Helvetica Neue"/>
                <a:cs typeface="Helvetica Neue"/>
              </a:rPr>
              <a:t>Incoming message · Marta</a:t>
            </a:r>
          </a:p>
        </p:txBody>
      </p:sp>
      <p:sp>
        <p:nvSpPr>
          <p:cNvPr id="10" name="">
            <a:extLst xmlns:a="http://schemas.openxmlformats.org/drawingml/2006/main">
              <a:ext uri="{FF2B5EF4-FFF2-40B4-BE49-F238E27FC236}">
                <a16:creationId xmlns:a16="http://schemas.microsoft.com/office/drawing/2014/main" id="{3C693007-286C-49FB-AEFB-2931E10C8CB1}"/>
              </a:ext>
            </a:extLst>
          </p:cNvPr>
          <p:cNvSpPr>
            <a:spLocks xmlns:a="http://schemas.openxmlformats.org/drawingml/2006/main" noGrp="1"/>
          </p:cNvSpPr>
          <p:nvPr/>
        </p:nvSpPr>
        <p:spPr>
          <a:xfrm xmlns:a="http://schemas.openxmlformats.org/drawingml/2006/main">
            <a:off x="3190875" y="2057400"/>
            <a:ext cx="5810250" cy="838200"/>
          </a:xfrm>
          <a:prstGeom xmlns:a="http://schemas.openxmlformats.org/drawingml/2006/main" prst="roundRect">
            <a:avLst>
              <a:gd name="adj" fmla="val 22727"/>
            </a:avLst>
          </a:prstGeom>
          <a:solidFill xmlns:a="http://schemas.openxmlformats.org/drawingml/2006/main">
            <a:srgbClr val="E6EB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41A13E9-0CE2-4D3D-8D49-E71B0A7CD3A4}"/>
              </a:ext>
            </a:extLst>
          </p:cNvPr>
          <p:cNvSpPr>
            <a:spLocks xmlns:a="http://schemas.openxmlformats.org/drawingml/2006/main" noGrp="1"/>
          </p:cNvSpPr>
          <p:nvPr/>
        </p:nvSpPr>
        <p:spPr>
          <a:xfrm xmlns:a="http://schemas.openxmlformats.org/drawingml/2006/main">
            <a:off x="3429000" y="2247900"/>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202B45"/>
                </a:solidFill>
                <a:latin typeface="Helvetica Neue"/>
                <a:ea typeface="Helvetica Neue"/>
                <a:cs typeface="Helvetica Neue"/>
              </a:defRPr>
            </a:pPr>
            <a:r>
              <a:rPr sz="2550" b="0">
                <a:solidFill>
                  <a:srgbClr val="202B45"/>
                </a:solidFill>
                <a:latin typeface="Helvetica Neue"/>
                <a:ea typeface="Helvetica Neue"/>
                <a:cs typeface="Helvetica Neue"/>
              </a:rPr>
              <a:t>Want to meet up tomorrow?</a:t>
            </a:r>
          </a:p>
        </p:txBody>
      </p:sp>
      <p:sp>
        <p:nvSpPr>
          <p:cNvPr id="12" name="">
            <a:extLst xmlns:a="http://schemas.openxmlformats.org/drawingml/2006/main">
              <a:ext uri="{FF2B5EF4-FFF2-40B4-BE49-F238E27FC236}">
                <a16:creationId xmlns:a16="http://schemas.microsoft.com/office/drawing/2014/main" id="{943A6DDF-D09F-4CD9-A9EC-E9C278CA7330}"/>
              </a:ext>
            </a:extLst>
          </p:cNvPr>
          <p:cNvSpPr>
            <a:spLocks xmlns:a="http://schemas.openxmlformats.org/drawingml/2006/main" noGrp="1"/>
          </p:cNvSpPr>
          <p:nvPr/>
        </p:nvSpPr>
        <p:spPr>
          <a:xfrm xmlns:a="http://schemas.openxmlformats.org/drawingml/2006/main">
            <a:off x="762000" y="360997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A45161"/>
                </a:solidFill>
                <a:latin typeface="Helvetica Neue"/>
                <a:ea typeface="Helvetica Neue"/>
                <a:cs typeface="Helvetica Neue"/>
              </a:defRPr>
            </a:pPr>
            <a:r>
              <a:rPr sz="2025" b="1">
                <a:solidFill>
                  <a:srgbClr val="A45161"/>
                </a:solidFill>
                <a:latin typeface="Helvetica Neue"/>
                <a:ea typeface="Helvetica Neue"/>
                <a:cs typeface="Helvetica Neue"/>
              </a:rPr>
              <a:t>Without your style context</a:t>
            </a:r>
          </a:p>
        </p:txBody>
      </p:sp>
      <p:sp>
        <p:nvSpPr>
          <p:cNvPr id="13" name="">
            <a:extLst xmlns:a="http://schemas.openxmlformats.org/drawingml/2006/main">
              <a:ext uri="{FF2B5EF4-FFF2-40B4-BE49-F238E27FC236}">
                <a16:creationId xmlns:a16="http://schemas.microsoft.com/office/drawing/2014/main" id="{4AE33FAB-05B2-4438-863A-8309BDBE46AA}"/>
              </a:ext>
            </a:extLst>
          </p:cNvPr>
          <p:cNvSpPr>
            <a:spLocks xmlns:a="http://schemas.openxmlformats.org/drawingml/2006/main" noGrp="1"/>
          </p:cNvSpPr>
          <p:nvPr/>
        </p:nvSpPr>
        <p:spPr>
          <a:xfrm xmlns:a="http://schemas.openxmlformats.org/drawingml/2006/main">
            <a:off x="6743700" y="36099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4869B3"/>
                </a:solidFill>
                <a:latin typeface="Helvetica Neue"/>
                <a:ea typeface="Helvetica Neue"/>
                <a:cs typeface="Helvetica Neue"/>
              </a:defRPr>
            </a:pPr>
            <a:r>
              <a:rPr sz="2025" b="1">
                <a:solidFill>
                  <a:srgbClr val="4869B3"/>
                </a:solidFill>
                <a:latin typeface="Helvetica Neue"/>
                <a:ea typeface="Helvetica Neue"/>
                <a:cs typeface="Helvetica Neue"/>
              </a:rPr>
              <a:t>With your style context</a:t>
            </a:r>
          </a:p>
        </p:txBody>
      </p:sp>
      <p:sp>
        <p:nvSpPr>
          <p:cNvPr id="14" name="">
            <a:extLst xmlns:a="http://schemas.openxmlformats.org/drawingml/2006/main">
              <a:ext uri="{FF2B5EF4-FFF2-40B4-BE49-F238E27FC236}">
                <a16:creationId xmlns:a16="http://schemas.microsoft.com/office/drawing/2014/main" id="{13F8D0DB-0BC0-4B0C-A08A-A35787644868}"/>
              </a:ext>
            </a:extLst>
          </p:cNvPr>
          <p:cNvSpPr>
            <a:spLocks xmlns:a="http://schemas.openxmlformats.org/drawingml/2006/main" noGrp="1"/>
          </p:cNvSpPr>
          <p:nvPr/>
        </p:nvSpPr>
        <p:spPr>
          <a:xfrm xmlns:a="http://schemas.openxmlformats.org/drawingml/2006/main">
            <a:off x="762000" y="4219575"/>
            <a:ext cx="5048250" cy="1447800"/>
          </a:xfrm>
          <a:prstGeom xmlns:a="http://schemas.openxmlformats.org/drawingml/2006/main" prst="roundRect">
            <a:avLst>
              <a:gd name="adj" fmla="val 13158"/>
            </a:avLst>
          </a:prstGeom>
          <a:solidFill xmlns:a="http://schemas.openxmlformats.org/drawingml/2006/main">
            <a:srgbClr val="F5E5E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23A3B9D-93C3-4A50-944B-3D010122BA9B}"/>
              </a:ext>
            </a:extLst>
          </p:cNvPr>
          <p:cNvSpPr>
            <a:spLocks xmlns:a="http://schemas.openxmlformats.org/drawingml/2006/main" noGrp="1"/>
          </p:cNvSpPr>
          <p:nvPr/>
        </p:nvSpPr>
        <p:spPr>
          <a:xfrm xmlns:a="http://schemas.openxmlformats.org/drawingml/2006/main">
            <a:off x="990600" y="4486275"/>
            <a:ext cx="45910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202B45"/>
                </a:solidFill>
                <a:latin typeface="Helvetica Neue"/>
                <a:ea typeface="Helvetica Neue"/>
                <a:cs typeface="Helvetica Neue"/>
              </a:defRPr>
            </a:pPr>
            <a:r>
              <a:rPr sz="2400" b="0">
                <a:solidFill>
                  <a:srgbClr val="202B45"/>
                </a:solidFill>
                <a:latin typeface="Helvetica Neue"/>
                <a:ea typeface="Helvetica Neue"/>
                <a:cs typeface="Helvetica Neue"/>
              </a:rPr>
              <a:t>Sure, I’d love to meet up.</a:t>
            </a:r>
          </a:p>
          <a:p xmlns:a="http://schemas.openxmlformats.org/drawingml/2006/main">
            <a:pPr>
              <a:buNone/>
              <a:defRPr sz="2400" b="0">
                <a:solidFill>
                  <a:srgbClr val="202B45"/>
                </a:solidFill>
                <a:latin typeface="Helvetica Neue"/>
                <a:ea typeface="Helvetica Neue"/>
                <a:cs typeface="Helvetica Neue"/>
              </a:defRPr>
            </a:pPr>
            <a:r>
              <a:rPr sz="2400" b="0">
                <a:solidFill>
                  <a:srgbClr val="202B45"/>
                </a:solidFill>
                <a:latin typeface="Helvetica Neue"/>
                <a:ea typeface="Helvetica Neue"/>
                <a:cs typeface="Helvetica Neue"/>
              </a:rPr>
              <a:t>What time works for you?</a:t>
            </a:r>
          </a:p>
        </p:txBody>
      </p:sp>
      <p:sp>
        <p:nvSpPr>
          <p:cNvPr id="16" name="">
            <a:extLst xmlns:a="http://schemas.openxmlformats.org/drawingml/2006/main">
              <a:ext uri="{FF2B5EF4-FFF2-40B4-BE49-F238E27FC236}">
                <a16:creationId xmlns:a16="http://schemas.microsoft.com/office/drawing/2014/main" id="{DF6A2900-C488-4FDA-882A-34BCB63FC1FF}"/>
              </a:ext>
            </a:extLst>
          </p:cNvPr>
          <p:cNvSpPr>
            <a:spLocks xmlns:a="http://schemas.openxmlformats.org/drawingml/2006/main" noGrp="1"/>
          </p:cNvSpPr>
          <p:nvPr/>
        </p:nvSpPr>
        <p:spPr>
          <a:xfrm xmlns:a="http://schemas.openxmlformats.org/drawingml/2006/main">
            <a:off x="6743700" y="4219575"/>
            <a:ext cx="4762500" cy="1447800"/>
          </a:xfrm>
          <a:prstGeom xmlns:a="http://schemas.openxmlformats.org/drawingml/2006/main" prst="roundRect">
            <a:avLst>
              <a:gd name="adj" fmla="val 13158"/>
            </a:avLst>
          </a:prstGeom>
          <a:solidFill xmlns:a="http://schemas.openxmlformats.org/drawingml/2006/main">
            <a:srgbClr val="4869B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C8C7A69-C180-4405-B8C4-E3C7D60265F8}"/>
              </a:ext>
            </a:extLst>
          </p:cNvPr>
          <p:cNvSpPr>
            <a:spLocks xmlns:a="http://schemas.openxmlformats.org/drawingml/2006/main" noGrp="1"/>
          </p:cNvSpPr>
          <p:nvPr/>
        </p:nvSpPr>
        <p:spPr>
          <a:xfrm xmlns:a="http://schemas.openxmlformats.org/drawingml/2006/main">
            <a:off x="6972300" y="4695825"/>
            <a:ext cx="4305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yeah sure, what time?</a:t>
            </a:r>
          </a:p>
        </p:txBody>
      </p:sp>
      <p:sp>
        <p:nvSpPr>
          <p:cNvPr id="18" name="">
            <a:extLst xmlns:a="http://schemas.openxmlformats.org/drawingml/2006/main">
              <a:ext uri="{FF2B5EF4-FFF2-40B4-BE49-F238E27FC236}">
                <a16:creationId xmlns:a16="http://schemas.microsoft.com/office/drawing/2014/main" id="{D46005B9-2272-459E-9811-F41F8D7A078C}"/>
              </a:ext>
            </a:extLst>
          </p:cNvPr>
          <p:cNvSpPr>
            <a:spLocks xmlns:a="http://schemas.openxmlformats.org/drawingml/2006/main" noGrp="1"/>
          </p:cNvSpPr>
          <p:nvPr/>
        </p:nvSpPr>
        <p:spPr>
          <a:xfrm xmlns:a="http://schemas.openxmlformats.org/drawingml/2006/main">
            <a:off x="6743700" y="59055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8647B"/>
                </a:solidFill>
                <a:latin typeface="Helvetica Neue"/>
                <a:ea typeface="Helvetica Neue"/>
                <a:cs typeface="Helvetica Neue"/>
              </a:defRPr>
            </a:pPr>
            <a:r>
              <a:rPr sz="1800" b="0">
                <a:solidFill>
                  <a:srgbClr val="58647B"/>
                </a:solidFill>
                <a:latin typeface="Helvetica Neue"/>
                <a:ea typeface="Helvetica Neue"/>
                <a:cs typeface="Helvetica Neue"/>
              </a:rPr>
              <a:t>Short messages · lowercase</a:t>
            </a:r>
          </a:p>
        </p:txBody>
      </p:sp>
      <p:sp>
        <p:nvSpPr>
          <p:cNvPr id="19" name="">
            <a:extLst xmlns:a="http://schemas.openxmlformats.org/drawingml/2006/main">
              <a:ext uri="{FF2B5EF4-FFF2-40B4-BE49-F238E27FC236}">
                <a16:creationId xmlns:a16="http://schemas.microsoft.com/office/drawing/2014/main" id="{44A8ACC0-F307-46C0-8F5C-7268E883BF7A}"/>
              </a:ext>
            </a:extLst>
          </p:cNvPr>
          <p:cNvSpPr>
            <a:spLocks xmlns:a="http://schemas.openxmlformats.org/drawingml/2006/main" noGrp="1"/>
          </p:cNvSpPr>
          <p:nvPr/>
        </p:nvSpPr>
        <p:spPr>
          <a:xfrm xmlns:a="http://schemas.openxmlformats.org/drawingml/2006/main">
            <a:off x="762000" y="590550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a:solidFill>
                  <a:srgbClr val="A45161"/>
                </a:solidFill>
                <a:latin typeface="Helvetica Neue"/>
                <a:ea typeface="Helvetica Neue"/>
                <a:cs typeface="Helvetica Neue"/>
              </a:defRPr>
            </a:pPr>
            <a:r>
              <a:rPr sz="1800">
                <a:solidFill>
                  <a:srgbClr val="A45161"/>
                </a:solidFill>
                <a:latin typeface="Helvetica Neue"/>
                <a:ea typeface="Helvetica Neue"/>
                <a:cs typeface="Helvetica Neue"/>
              </a:rPr>
              <a:t>More formal</a:t>
            </a:r>
          </a:p>
        </p:txBody>
      </p:sp>
    </p:spTree>
    <p:extLst>
      <p:ext uri="{BB962C8B-B14F-4D97-AF65-F5344CB8AC3E}">
        <p14:creationId xmlns:p14="http://schemas.microsoft.com/office/powerpoint/2010/main" val="21366978"/>
      </p:ext>
    </p:extLst>
  </p:cSld>
</p:sld>
</file>

<file path=ppt/slides/slide6.xml><?xml version="1.0" encoding="utf-8"?>
<p:sld xmlns:p="http://schemas.openxmlformats.org/presentationml/2006/main">
  <p:cSld>
    <p:bg>
      <p:bgPr>
        <a:solidFill xmlns:a="http://schemas.openxmlformats.org/drawingml/2006/main">
          <a:srgbClr val="F5F6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C1F70C-AD6D-4B50-919B-FEAB916C2965}"/>
              </a:ext>
            </a:extLst>
          </p:cNvPr>
          <p:cNvSpPr>
            <a:spLocks xmlns:a="http://schemas.openxmlformats.org/drawingml/2006/main" noGrp="1"/>
          </p:cNvSpPr>
          <p:nvPr/>
        </p:nvSpPr>
        <p:spPr>
          <a:xfrm xmlns:a="http://schemas.openxmlformats.org/drawingml/2006/main">
            <a:off x="647700" y="495300"/>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02B45"/>
                </a:solidFill>
                <a:latin typeface="Helvetica Neue"/>
                <a:ea typeface="Helvetica Neue"/>
                <a:cs typeface="Helvetica Neue"/>
              </a:defRPr>
            </a:pPr>
            <a:r>
              <a:rPr sz="3450" b="1">
                <a:solidFill>
                  <a:srgbClr val="202B45"/>
                </a:solidFill>
                <a:latin typeface="Helvetica Neue"/>
                <a:ea typeface="Helvetica Neue"/>
                <a:cs typeface="Helvetica Neue"/>
              </a:rPr>
              <a:t>See the messages behind the memory</a:t>
            </a:r>
          </a:p>
        </p:txBody>
      </p:sp>
      <p:sp>
        <p:nvSpPr>
          <p:cNvPr id="8" name="">
            <a:extLst xmlns:a="http://schemas.openxmlformats.org/drawingml/2006/main">
              <a:ext uri="{FF2B5EF4-FFF2-40B4-BE49-F238E27FC236}">
                <a16:creationId xmlns:a16="http://schemas.microsoft.com/office/drawing/2014/main" id="{CB7A4A6C-04C3-4C63-BAF1-9DF634ECB37D}"/>
              </a:ext>
            </a:extLst>
          </p:cNvPr>
          <p:cNvSpPr>
            <a:spLocks xmlns:a="http://schemas.openxmlformats.org/drawingml/2006/main" noGrp="1"/>
          </p:cNvSpPr>
          <p:nvPr/>
        </p:nvSpPr>
        <p:spPr>
          <a:xfrm xmlns:a="http://schemas.openxmlformats.org/drawingml/2006/main">
            <a:off x="762000" y="2181225"/>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4869B3"/>
                </a:solidFill>
                <a:latin typeface="Helvetica Neue"/>
                <a:ea typeface="Helvetica Neue"/>
                <a:cs typeface="Helvetica Neue"/>
              </a:defRPr>
            </a:pPr>
            <a:r>
              <a:rPr sz="2400" b="1">
                <a:solidFill>
                  <a:srgbClr val="4869B3"/>
                </a:solidFill>
                <a:latin typeface="Helvetica Neue"/>
                <a:ea typeface="Helvetica Neue"/>
                <a:cs typeface="Helvetica Neue"/>
              </a:rPr>
              <a:t>Check the source</a:t>
            </a:r>
          </a:p>
        </p:txBody>
      </p:sp>
      <p:sp>
        <p:nvSpPr>
          <p:cNvPr id="9" name="">
            <a:extLst xmlns:a="http://schemas.openxmlformats.org/drawingml/2006/main">
              <a:ext uri="{FF2B5EF4-FFF2-40B4-BE49-F238E27FC236}">
                <a16:creationId xmlns:a16="http://schemas.microsoft.com/office/drawing/2014/main" id="{EDF6177F-5ECB-4E06-A7C4-8B109DE8DB0A}"/>
              </a:ext>
            </a:extLst>
          </p:cNvPr>
          <p:cNvSpPr>
            <a:spLocks xmlns:a="http://schemas.openxmlformats.org/drawingml/2006/main" noGrp="1"/>
          </p:cNvSpPr>
          <p:nvPr/>
        </p:nvSpPr>
        <p:spPr>
          <a:xfrm xmlns:a="http://schemas.openxmlformats.org/drawingml/2006/main">
            <a:off x="762000" y="2905125"/>
            <a:ext cx="4286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2B45"/>
                </a:solidFill>
                <a:latin typeface="Helvetica Neue"/>
                <a:ea typeface="Helvetica Neue"/>
                <a:cs typeface="Helvetica Neue"/>
              </a:defRPr>
            </a:pPr>
            <a:r>
              <a:rPr sz="2100" b="0">
                <a:solidFill>
                  <a:srgbClr val="202B45"/>
                </a:solidFill>
                <a:latin typeface="Helvetica Neue"/>
                <a:ea typeface="Helvetica Neue"/>
                <a:cs typeface="Helvetica Neue"/>
              </a:rPr>
              <a:t>Original message, sender,</a:t>
            </a:r>
          </a:p>
          <a:p xmlns:a="http://schemas.openxmlformats.org/drawingml/2006/main">
            <a:pPr>
              <a:buNone/>
              <a:defRPr sz="2100" b="0">
                <a:solidFill>
                  <a:srgbClr val="202B45"/>
                </a:solidFill>
                <a:latin typeface="Helvetica Neue"/>
                <a:ea typeface="Helvetica Neue"/>
                <a:cs typeface="Helvetica Neue"/>
              </a:defRPr>
            </a:pPr>
            <a:r>
              <a:rPr sz="2100" b="0">
                <a:solidFill>
                  <a:srgbClr val="202B45"/>
                </a:solidFill>
                <a:latin typeface="Helvetica Neue"/>
                <a:ea typeface="Helvetica Neue"/>
                <a:cs typeface="Helvetica Neue"/>
              </a:rPr>
              <a:t>and date.</a:t>
            </a:r>
          </a:p>
        </p:txBody>
      </p:sp>
      <p:sp>
        <p:nvSpPr>
          <p:cNvPr id="10" name="">
            <a:extLst xmlns:a="http://schemas.openxmlformats.org/drawingml/2006/main">
              <a:ext uri="{FF2B5EF4-FFF2-40B4-BE49-F238E27FC236}">
                <a16:creationId xmlns:a16="http://schemas.microsoft.com/office/drawing/2014/main" id="{56D6B9D7-ADC2-42FF-8FAC-A653D4816F8A}"/>
              </a:ext>
            </a:extLst>
          </p:cNvPr>
          <p:cNvSpPr>
            <a:spLocks xmlns:a="http://schemas.openxmlformats.org/drawingml/2006/main" noGrp="1"/>
          </p:cNvSpPr>
          <p:nvPr/>
        </p:nvSpPr>
        <p:spPr>
          <a:xfrm xmlns:a="http://schemas.openxmlformats.org/drawingml/2006/main">
            <a:off x="762000" y="4410075"/>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4869B3"/>
                </a:solidFill>
                <a:latin typeface="Helvetica Neue"/>
                <a:ea typeface="Helvetica Neue"/>
                <a:cs typeface="Helvetica Neue"/>
              </a:defRPr>
            </a:pPr>
            <a:r>
              <a:rPr sz="2400" b="1">
                <a:solidFill>
                  <a:srgbClr val="4869B3"/>
                </a:solidFill>
                <a:latin typeface="Helvetica Neue"/>
                <a:ea typeface="Helvetica Neue"/>
                <a:cs typeface="Helvetica Neue"/>
              </a:rPr>
              <a:t>Correct the memory</a:t>
            </a:r>
          </a:p>
        </p:txBody>
      </p:sp>
      <p:sp>
        <p:nvSpPr>
          <p:cNvPr id="11" name="">
            <a:extLst xmlns:a="http://schemas.openxmlformats.org/drawingml/2006/main">
              <a:ext uri="{FF2B5EF4-FFF2-40B4-BE49-F238E27FC236}">
                <a16:creationId xmlns:a16="http://schemas.microsoft.com/office/drawing/2014/main" id="{602DC5BD-9E4D-4C60-8192-C4AB2DB34312}"/>
              </a:ext>
            </a:extLst>
          </p:cNvPr>
          <p:cNvSpPr>
            <a:spLocks xmlns:a="http://schemas.openxmlformats.org/drawingml/2006/main" noGrp="1"/>
          </p:cNvSpPr>
          <p:nvPr/>
        </p:nvSpPr>
        <p:spPr>
          <a:xfrm xmlns:a="http://schemas.openxmlformats.org/drawingml/2006/main">
            <a:off x="762000" y="5133975"/>
            <a:ext cx="4286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202B45"/>
                </a:solidFill>
                <a:latin typeface="Helvetica Neue"/>
                <a:ea typeface="Helvetica Neue"/>
                <a:cs typeface="Helvetica Neue"/>
              </a:defRPr>
            </a:pPr>
            <a:r>
              <a:rPr sz="2100" b="0">
                <a:solidFill>
                  <a:srgbClr val="202B45"/>
                </a:solidFill>
                <a:latin typeface="Helvetica Neue"/>
                <a:ea typeface="Helvetica Neue"/>
                <a:cs typeface="Helvetica Neue"/>
              </a:rPr>
              <a:t>Edit, delete, or mark</a:t>
            </a:r>
          </a:p>
          <a:p xmlns:a="http://schemas.openxmlformats.org/drawingml/2006/main">
            <a:pPr>
              <a:buNone/>
              <a:defRPr sz="2100" b="0">
                <a:solidFill>
                  <a:srgbClr val="202B45"/>
                </a:solidFill>
                <a:latin typeface="Helvetica Neue"/>
                <a:ea typeface="Helvetica Neue"/>
                <a:cs typeface="Helvetica Neue"/>
              </a:defRPr>
            </a:pPr>
            <a:r>
              <a:rPr sz="2100" b="0">
                <a:solidFill>
                  <a:srgbClr val="202B45"/>
                </a:solidFill>
                <a:latin typeface="Helvetica Neue"/>
                <a:ea typeface="Helvetica Neue"/>
                <a:cs typeface="Helvetica Neue"/>
              </a:rPr>
              <a:t>it as done.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2bf59303ffb47bb"/>
          <a:stretch xmlns:a="http://schemas.openxmlformats.org/drawingml/2006/main"/>
        </p:blipFill>
        <p:spPr>
          <a:xfrm xmlns:a="http://schemas.openxmlformats.org/drawingml/2006/main">
            <a:off x="5410200" y="2020888"/>
            <a:ext cx="6096000" cy="4064000"/>
          </a:xfrm>
          <a:prstGeom xmlns:a="http://schemas.openxmlformats.org/drawingml/2006/main" prst="rect">
            <a:avLst/>
          </a:prstGeom>
        </p:spPr>
      </p:pic>
    </p:spTree>
    <p:extLst>
      <p:ext uri="{BB962C8B-B14F-4D97-AF65-F5344CB8AC3E}">
        <p14:creationId xmlns:p14="http://schemas.microsoft.com/office/powerpoint/2010/main" val="703109912"/>
      </p:ext>
    </p:extLst>
  </p:cSld>
</p:sld>
</file>

<file path=ppt/slides/slide7.xml><?xml version="1.0" encoding="utf-8"?>
<p:sld xmlns:p="http://schemas.openxmlformats.org/presentationml/2006/main">
  <p:cSld>
    <p:bg>
      <p:bgPr>
        <a:solidFill xmlns:a="http://schemas.openxmlformats.org/drawingml/2006/main">
          <a:srgbClr val="F5F6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B6E948B-C40F-4384-8287-3DDCFBDF0D6A}"/>
              </a:ext>
            </a:extLst>
          </p:cNvPr>
          <p:cNvSpPr>
            <a:spLocks xmlns:a="http://schemas.openxmlformats.org/drawingml/2006/main" noGrp="1"/>
          </p:cNvSpPr>
          <p:nvPr/>
        </p:nvSpPr>
        <p:spPr>
          <a:xfrm xmlns:a="http://schemas.openxmlformats.org/drawingml/2006/main">
            <a:off x="647700" y="495300"/>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02B45"/>
                </a:solidFill>
                <a:latin typeface="Helvetica Neue"/>
                <a:ea typeface="Helvetica Neue"/>
                <a:cs typeface="Helvetica Neue"/>
              </a:defRPr>
            </a:pPr>
            <a:r>
              <a:rPr sz="3450" b="1">
                <a:solidFill>
                  <a:srgbClr val="202B45"/>
                </a:solidFill>
                <a:latin typeface="Helvetica Neue"/>
                <a:ea typeface="Helvetica Neue"/>
                <a:cs typeface="Helvetica Neue"/>
              </a:rPr>
              <a:t>How Cue works</a:t>
            </a:r>
          </a:p>
        </p:txBody>
      </p:sp>
      <p:sp>
        <p:nvSpPr>
          <p:cNvPr id="8" name="">
            <a:extLst xmlns:a="http://schemas.openxmlformats.org/drawingml/2006/main">
              <a:ext uri="{FF2B5EF4-FFF2-40B4-BE49-F238E27FC236}">
                <a16:creationId xmlns:a16="http://schemas.microsoft.com/office/drawing/2014/main" id="{C00C6810-1DD9-4D36-8916-3A30BF2D9981}"/>
              </a:ext>
            </a:extLst>
          </p:cNvPr>
          <p:cNvSpPr>
            <a:spLocks xmlns:a="http://schemas.openxmlformats.org/drawingml/2006/main" noGrp="1"/>
          </p:cNvSpPr>
          <p:nvPr/>
        </p:nvSpPr>
        <p:spPr>
          <a:xfrm xmlns:a="http://schemas.openxmlformats.org/drawingml/2006/main">
            <a:off x="685800" y="1590675"/>
            <a:ext cx="4552950" cy="4238625"/>
          </a:xfrm>
          <a:prstGeom xmlns:a="http://schemas.openxmlformats.org/drawingml/2006/main" prst="roundRect">
            <a:avLst>
              <a:gd name="adj" fmla="val 4494"/>
            </a:avLst>
          </a:prstGeom>
          <a:solidFill xmlns:a="http://schemas.openxmlformats.org/drawingml/2006/main">
            <a:srgbClr val="EEF1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0991981-83F3-4E5A-AD61-9B5505D1753E}"/>
              </a:ext>
            </a:extLst>
          </p:cNvPr>
          <p:cNvSpPr>
            <a:spLocks xmlns:a="http://schemas.openxmlformats.org/drawingml/2006/main" noGrp="1"/>
          </p:cNvSpPr>
          <p:nvPr/>
        </p:nvSpPr>
        <p:spPr>
          <a:xfrm xmlns:a="http://schemas.openxmlformats.org/drawingml/2006/main">
            <a:off x="6743700" y="1590675"/>
            <a:ext cx="4762500" cy="4238625"/>
          </a:xfrm>
          <a:prstGeom xmlns:a="http://schemas.openxmlformats.org/drawingml/2006/main" prst="roundRect">
            <a:avLst>
              <a:gd name="adj" fmla="val 4494"/>
            </a:avLst>
          </a:prstGeom>
          <a:solidFill xmlns:a="http://schemas.openxmlformats.org/drawingml/2006/main">
            <a:srgbClr val="E6EB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AEDAB3E-F652-425E-AE7C-49DA29FD18B4}"/>
              </a:ext>
            </a:extLst>
          </p:cNvPr>
          <p:cNvSpPr>
            <a:spLocks xmlns:a="http://schemas.openxmlformats.org/drawingml/2006/main" noGrp="1"/>
          </p:cNvSpPr>
          <p:nvPr/>
        </p:nvSpPr>
        <p:spPr>
          <a:xfrm xmlns:a="http://schemas.openxmlformats.org/drawingml/2006/main">
            <a:off x="990600" y="1800225"/>
            <a:ext cx="37719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869B3"/>
                </a:solidFill>
                <a:latin typeface="Helvetica Neue"/>
                <a:ea typeface="Helvetica Neue"/>
                <a:cs typeface="Helvetica Neue"/>
              </a:defRPr>
            </a:pPr>
            <a:r>
              <a:rPr sz="2250" b="1">
                <a:solidFill>
                  <a:srgbClr val="4869B3"/>
                </a:solidFill>
                <a:latin typeface="Helvetica Neue"/>
                <a:ea typeface="Helvetica Neue"/>
                <a:cs typeface="Helvetica Neue"/>
              </a:rPr>
              <a:t>On your phone</a:t>
            </a:r>
          </a:p>
        </p:txBody>
      </p:sp>
      <p:sp>
        <p:nvSpPr>
          <p:cNvPr id="11" name="">
            <a:extLst xmlns:a="http://schemas.openxmlformats.org/drawingml/2006/main">
              <a:ext uri="{FF2B5EF4-FFF2-40B4-BE49-F238E27FC236}">
                <a16:creationId xmlns:a16="http://schemas.microsoft.com/office/drawing/2014/main" id="{F89E8B86-A7BE-4AE8-B23E-473B34D9F25F}"/>
              </a:ext>
            </a:extLst>
          </p:cNvPr>
          <p:cNvSpPr>
            <a:spLocks xmlns:a="http://schemas.openxmlformats.org/drawingml/2006/main" noGrp="1"/>
          </p:cNvSpPr>
          <p:nvPr/>
        </p:nvSpPr>
        <p:spPr>
          <a:xfrm xmlns:a="http://schemas.openxmlformats.org/drawingml/2006/main">
            <a:off x="990600" y="2238375"/>
            <a:ext cx="3924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8647B"/>
                </a:solidFill>
                <a:latin typeface="Helvetica Neue"/>
                <a:ea typeface="Helvetica Neue"/>
                <a:cs typeface="Helvetica Neue"/>
              </a:defRPr>
            </a:pPr>
            <a:r>
              <a:rPr sz="1500" b="0">
                <a:solidFill>
                  <a:srgbClr val="58647B"/>
                </a:solidFill>
                <a:latin typeface="Helvetica Neue"/>
                <a:ea typeface="Helvetica Neue"/>
                <a:cs typeface="Helvetica Neue"/>
              </a:rPr>
              <a:t>Messenger · WhatsApp · Instagram</a:t>
            </a:r>
          </a:p>
        </p:txBody>
      </p:sp>
      <p:sp>
        <p:nvSpPr>
          <p:cNvPr id="12" name="">
            <a:extLst xmlns:a="http://schemas.openxmlformats.org/drawingml/2006/main">
              <a:ext uri="{FF2B5EF4-FFF2-40B4-BE49-F238E27FC236}">
                <a16:creationId xmlns:a16="http://schemas.microsoft.com/office/drawing/2014/main" id="{5560976A-46BB-420B-B345-69BEE03BD89D}"/>
              </a:ext>
            </a:extLst>
          </p:cNvPr>
          <p:cNvSpPr>
            <a:spLocks xmlns:a="http://schemas.openxmlformats.org/drawingml/2006/main" noGrp="1"/>
          </p:cNvSpPr>
          <p:nvPr/>
        </p:nvSpPr>
        <p:spPr>
          <a:xfrm xmlns:a="http://schemas.openxmlformats.org/drawingml/2006/main">
            <a:off x="7200900" y="1800225"/>
            <a:ext cx="3848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4869B3"/>
                </a:solidFill>
                <a:latin typeface="Helvetica Neue"/>
                <a:ea typeface="Helvetica Neue"/>
                <a:cs typeface="Helvetica Neue"/>
              </a:defRPr>
            </a:pPr>
            <a:r>
              <a:rPr sz="2250" b="1">
                <a:solidFill>
                  <a:srgbClr val="4869B3"/>
                </a:solidFill>
                <a:latin typeface="Helvetica Neue"/>
                <a:ea typeface="Helvetica Neue"/>
                <a:cs typeface="Helvetica Neue"/>
              </a:rPr>
              <a:t>In the cloud</a:t>
            </a:r>
          </a:p>
        </p:txBody>
      </p:sp>
      <p:sp>
        <p:nvSpPr>
          <p:cNvPr id="13" name="">
            <a:extLst xmlns:a="http://schemas.openxmlformats.org/drawingml/2006/main">
              <a:ext uri="{FF2B5EF4-FFF2-40B4-BE49-F238E27FC236}">
                <a16:creationId xmlns:a16="http://schemas.microsoft.com/office/drawing/2014/main" id="{B24F8D22-D815-4CE0-8234-FDB6DD0E7300}"/>
              </a:ext>
            </a:extLst>
          </p:cNvPr>
          <p:cNvSpPr>
            <a:spLocks xmlns:a="http://schemas.openxmlformats.org/drawingml/2006/main" noGrp="1"/>
          </p:cNvSpPr>
          <p:nvPr/>
        </p:nvSpPr>
        <p:spPr>
          <a:xfrm xmlns:a="http://schemas.openxmlformats.org/drawingml/2006/main">
            <a:off x="990600" y="2724150"/>
            <a:ext cx="3771900" cy="1104900"/>
          </a:xfrm>
          <a:prstGeom xmlns:a="http://schemas.openxmlformats.org/drawingml/2006/main" prst="roundRect">
            <a:avLst>
              <a:gd name="adj" fmla="val 12069"/>
            </a:avLst>
          </a:prstGeom>
          <a:solidFill xmlns:a="http://schemas.openxmlformats.org/drawingml/2006/main">
            <a:srgbClr val="FFFFFF"/>
          </a:solidFill>
          <a:ln xmlns:a="http://schemas.openxmlformats.org/drawingml/2006/main" w="14288">
            <a:solidFill>
              <a:srgbClr val="CBD3E4"/>
            </a:solidFill>
          </a:ln>
        </p:spPr>
      </p:sp>
      <p:sp>
        <p:nvSpPr>
          <p:cNvPr id="14" name="">
            <a:extLst xmlns:a="http://schemas.openxmlformats.org/drawingml/2006/main">
              <a:ext uri="{FF2B5EF4-FFF2-40B4-BE49-F238E27FC236}">
                <a16:creationId xmlns:a16="http://schemas.microsoft.com/office/drawing/2014/main" id="{519B356B-1B3C-488D-ADD6-4282289884EB}"/>
              </a:ext>
            </a:extLst>
          </p:cNvPr>
          <p:cNvSpPr>
            <a:spLocks xmlns:a="http://schemas.openxmlformats.org/drawingml/2006/main" noGrp="1"/>
          </p:cNvSpPr>
          <p:nvPr/>
        </p:nvSpPr>
        <p:spPr>
          <a:xfrm xmlns:a="http://schemas.openxmlformats.org/drawingml/2006/main">
            <a:off x="7200900" y="2724150"/>
            <a:ext cx="3848100" cy="1104900"/>
          </a:xfrm>
          <a:prstGeom xmlns:a="http://schemas.openxmlformats.org/drawingml/2006/main" prst="roundRect">
            <a:avLst>
              <a:gd name="adj" fmla="val 12069"/>
            </a:avLst>
          </a:prstGeom>
          <a:solidFill xmlns:a="http://schemas.openxmlformats.org/drawingml/2006/main">
            <a:srgbClr val="FFFFFF"/>
          </a:solidFill>
          <a:ln xmlns:a="http://schemas.openxmlformats.org/drawingml/2006/main" w="14288">
            <a:solidFill>
              <a:srgbClr val="CBD3E4"/>
            </a:solidFill>
          </a:ln>
        </p:spPr>
      </p:sp>
      <p:sp>
        <p:nvSpPr>
          <p:cNvPr id="15" name="">
            <a:extLst xmlns:a="http://schemas.openxmlformats.org/drawingml/2006/main">
              <a:ext uri="{FF2B5EF4-FFF2-40B4-BE49-F238E27FC236}">
                <a16:creationId xmlns:a16="http://schemas.microsoft.com/office/drawing/2014/main" id="{BCBCD4B9-AD8B-4534-91F0-4231168415A3}"/>
              </a:ext>
            </a:extLst>
          </p:cNvPr>
          <p:cNvSpPr>
            <a:spLocks xmlns:a="http://schemas.openxmlformats.org/drawingml/2006/main" noGrp="1"/>
          </p:cNvSpPr>
          <p:nvPr/>
        </p:nvSpPr>
        <p:spPr>
          <a:xfrm xmlns:a="http://schemas.openxmlformats.org/drawingml/2006/main">
            <a:off x="7200900" y="4514850"/>
            <a:ext cx="3848100" cy="1104900"/>
          </a:xfrm>
          <a:prstGeom xmlns:a="http://schemas.openxmlformats.org/drawingml/2006/main" prst="roundRect">
            <a:avLst>
              <a:gd name="adj" fmla="val 12069"/>
            </a:avLst>
          </a:prstGeom>
          <a:solidFill xmlns:a="http://schemas.openxmlformats.org/drawingml/2006/main">
            <a:srgbClr val="4869B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EED56F6-BF96-447A-B568-6BF1B77D1DE6}"/>
              </a:ext>
            </a:extLst>
          </p:cNvPr>
          <p:cNvSpPr>
            <a:spLocks xmlns:a="http://schemas.openxmlformats.org/drawingml/2006/main" noGrp="1"/>
          </p:cNvSpPr>
          <p:nvPr/>
        </p:nvSpPr>
        <p:spPr>
          <a:xfrm xmlns:a="http://schemas.openxmlformats.org/drawingml/2006/main">
            <a:off x="990600" y="4514850"/>
            <a:ext cx="3771900" cy="1104900"/>
          </a:xfrm>
          <a:prstGeom xmlns:a="http://schemas.openxmlformats.org/drawingml/2006/main" prst="roundRect">
            <a:avLst>
              <a:gd name="adj" fmla="val 12069"/>
            </a:avLst>
          </a:prstGeom>
          <a:solidFill xmlns:a="http://schemas.openxmlformats.org/drawingml/2006/main">
            <a:srgbClr val="FFFFFF"/>
          </a:solidFill>
          <a:ln xmlns:a="http://schemas.openxmlformats.org/drawingml/2006/main" w="14288">
            <a:solidFill>
              <a:srgbClr val="CBD3E4"/>
            </a:solidFill>
          </a:ln>
        </p:spPr>
      </p:sp>
      <p:sp>
        <p:nvSpPr>
          <p:cNvPr id="17" name="">
            <a:extLst xmlns:a="http://schemas.openxmlformats.org/drawingml/2006/main">
              <a:ext uri="{FF2B5EF4-FFF2-40B4-BE49-F238E27FC236}">
                <a16:creationId xmlns:a16="http://schemas.microsoft.com/office/drawing/2014/main" id="{E15323C8-F298-4B0A-8509-9D0AD9AFC079}"/>
              </a:ext>
            </a:extLst>
          </p:cNvPr>
          <p:cNvSpPr>
            <a:spLocks xmlns:a="http://schemas.openxmlformats.org/drawingml/2006/main" noGrp="1"/>
          </p:cNvSpPr>
          <p:nvPr/>
        </p:nvSpPr>
        <p:spPr>
          <a:xfrm xmlns:a="http://schemas.openxmlformats.org/drawingml/2006/main">
            <a:off x="1181100" y="2876550"/>
            <a:ext cx="339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202B45"/>
                </a:solidFill>
                <a:latin typeface="Helvetica Neue"/>
                <a:ea typeface="Helvetica Neue"/>
                <a:cs typeface="Helvetica Neue"/>
              </a:defRPr>
            </a:pPr>
            <a:r>
              <a:rPr sz="1950" b="1">
                <a:solidFill>
                  <a:srgbClr val="202B45"/>
                </a:solidFill>
                <a:latin typeface="Helvetica Neue"/>
                <a:ea typeface="Helvetica Neue"/>
                <a:cs typeface="Helvetica Neue"/>
              </a:rPr>
              <a:t>01  Build context</a:t>
            </a:r>
          </a:p>
        </p:txBody>
      </p:sp>
      <p:sp>
        <p:nvSpPr>
          <p:cNvPr id="18" name="">
            <a:extLst xmlns:a="http://schemas.openxmlformats.org/drawingml/2006/main">
              <a:ext uri="{FF2B5EF4-FFF2-40B4-BE49-F238E27FC236}">
                <a16:creationId xmlns:a16="http://schemas.microsoft.com/office/drawing/2014/main" id="{BC69677D-7370-4400-A6E0-645EAE037469}"/>
              </a:ext>
            </a:extLst>
          </p:cNvPr>
          <p:cNvSpPr>
            <a:spLocks xmlns:a="http://schemas.openxmlformats.org/drawingml/2006/main" noGrp="1"/>
          </p:cNvSpPr>
          <p:nvPr/>
        </p:nvSpPr>
        <p:spPr>
          <a:xfrm xmlns:a="http://schemas.openxmlformats.org/drawingml/2006/main">
            <a:off x="1181100" y="3333750"/>
            <a:ext cx="3390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8647B"/>
                </a:solidFill>
                <a:latin typeface="Helvetica Neue"/>
                <a:ea typeface="Helvetica Neue"/>
                <a:cs typeface="Helvetica Neue"/>
              </a:defRPr>
            </a:pPr>
            <a:r>
              <a:rPr sz="1650" b="0">
                <a:solidFill>
                  <a:srgbClr val="58647B"/>
                </a:solidFill>
                <a:latin typeface="Helvetica Neue"/>
                <a:ea typeface="Helvetica Neue"/>
                <a:cs typeface="Helvetica Neue"/>
              </a:rPr>
              <a:t>History, memory &amp; writing style</a:t>
            </a:r>
          </a:p>
        </p:txBody>
      </p:sp>
      <p:sp>
        <p:nvSpPr>
          <p:cNvPr id="19" name="">
            <a:extLst xmlns:a="http://schemas.openxmlformats.org/drawingml/2006/main">
              <a:ext uri="{FF2B5EF4-FFF2-40B4-BE49-F238E27FC236}">
                <a16:creationId xmlns:a16="http://schemas.microsoft.com/office/drawing/2014/main" id="{B5FC09AA-0967-4323-AD72-158B0B037FB7}"/>
              </a:ext>
            </a:extLst>
          </p:cNvPr>
          <p:cNvSpPr>
            <a:spLocks xmlns:a="http://schemas.openxmlformats.org/drawingml/2006/main" noGrp="1"/>
          </p:cNvSpPr>
          <p:nvPr/>
        </p:nvSpPr>
        <p:spPr>
          <a:xfrm xmlns:a="http://schemas.openxmlformats.org/drawingml/2006/main">
            <a:off x="7391400" y="2876550"/>
            <a:ext cx="346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202B45"/>
                </a:solidFill>
                <a:latin typeface="Helvetica Neue"/>
                <a:ea typeface="Helvetica Neue"/>
                <a:cs typeface="Helvetica Neue"/>
              </a:defRPr>
            </a:pPr>
            <a:r>
              <a:rPr sz="1950" b="1">
                <a:solidFill>
                  <a:srgbClr val="202B45"/>
                </a:solidFill>
                <a:latin typeface="Helvetica Neue"/>
                <a:ea typeface="Helvetica Neue"/>
                <a:cs typeface="Helvetica Neue"/>
              </a:rPr>
              <a:t>02  Secure the request</a:t>
            </a:r>
          </a:p>
        </p:txBody>
      </p:sp>
      <p:sp>
        <p:nvSpPr>
          <p:cNvPr id="20" name="">
            <a:extLst xmlns:a="http://schemas.openxmlformats.org/drawingml/2006/main">
              <a:ext uri="{FF2B5EF4-FFF2-40B4-BE49-F238E27FC236}">
                <a16:creationId xmlns:a16="http://schemas.microsoft.com/office/drawing/2014/main" id="{231B541F-AAF3-4F61-9FCB-A2511B34F0C4}"/>
              </a:ext>
            </a:extLst>
          </p:cNvPr>
          <p:cNvSpPr>
            <a:spLocks xmlns:a="http://schemas.openxmlformats.org/drawingml/2006/main" noGrp="1"/>
          </p:cNvSpPr>
          <p:nvPr/>
        </p:nvSpPr>
        <p:spPr>
          <a:xfrm xmlns:a="http://schemas.openxmlformats.org/drawingml/2006/main">
            <a:off x="7391400" y="3333750"/>
            <a:ext cx="3467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8647B"/>
                </a:solidFill>
                <a:latin typeface="Helvetica Neue"/>
                <a:ea typeface="Helvetica Neue"/>
                <a:cs typeface="Helvetica Neue"/>
              </a:defRPr>
            </a:pPr>
            <a:r>
              <a:rPr sz="1650" b="0">
                <a:solidFill>
                  <a:srgbClr val="58647B"/>
                </a:solidFill>
                <a:latin typeface="Helvetica Neue"/>
                <a:ea typeface="Helvetica Neue"/>
                <a:cs typeface="Helvetica Neue"/>
              </a:rPr>
              <a:t>Supabase · auth &amp; rate limits</a:t>
            </a:r>
          </a:p>
        </p:txBody>
      </p:sp>
      <p:sp>
        <p:nvSpPr>
          <p:cNvPr id="21" name="">
            <a:extLst xmlns:a="http://schemas.openxmlformats.org/drawingml/2006/main">
              <a:ext uri="{FF2B5EF4-FFF2-40B4-BE49-F238E27FC236}">
                <a16:creationId xmlns:a16="http://schemas.microsoft.com/office/drawing/2014/main" id="{DD922B51-131B-4867-B987-39E7CE1390BB}"/>
              </a:ext>
            </a:extLst>
          </p:cNvPr>
          <p:cNvSpPr>
            <a:spLocks xmlns:a="http://schemas.openxmlformats.org/drawingml/2006/main" noGrp="1"/>
          </p:cNvSpPr>
          <p:nvPr/>
        </p:nvSpPr>
        <p:spPr>
          <a:xfrm xmlns:a="http://schemas.openxmlformats.org/drawingml/2006/main">
            <a:off x="7391400" y="4667250"/>
            <a:ext cx="3467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03  Generate with AI</a:t>
            </a:r>
          </a:p>
        </p:txBody>
      </p:sp>
      <p:sp>
        <p:nvSpPr>
          <p:cNvPr id="22" name="">
            <a:extLst xmlns:a="http://schemas.openxmlformats.org/drawingml/2006/main">
              <a:ext uri="{FF2B5EF4-FFF2-40B4-BE49-F238E27FC236}">
                <a16:creationId xmlns:a16="http://schemas.microsoft.com/office/drawing/2014/main" id="{17B15FBC-842D-49FA-9982-6A14F1C5FE25}"/>
              </a:ext>
            </a:extLst>
          </p:cNvPr>
          <p:cNvSpPr>
            <a:spLocks xmlns:a="http://schemas.openxmlformats.org/drawingml/2006/main" noGrp="1"/>
          </p:cNvSpPr>
          <p:nvPr/>
        </p:nvSpPr>
        <p:spPr>
          <a:xfrm xmlns:a="http://schemas.openxmlformats.org/drawingml/2006/main">
            <a:off x="7391400" y="5124450"/>
            <a:ext cx="3467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DeepSeek · memory &amp; replies</a:t>
            </a:r>
          </a:p>
        </p:txBody>
      </p:sp>
      <p:sp>
        <p:nvSpPr>
          <p:cNvPr id="23" name="">
            <a:extLst xmlns:a="http://schemas.openxmlformats.org/drawingml/2006/main">
              <a:ext uri="{FF2B5EF4-FFF2-40B4-BE49-F238E27FC236}">
                <a16:creationId xmlns:a16="http://schemas.microsoft.com/office/drawing/2014/main" id="{F2DB8F3C-11D1-47BF-AED8-E46221D2CCE2}"/>
              </a:ext>
            </a:extLst>
          </p:cNvPr>
          <p:cNvSpPr>
            <a:spLocks xmlns:a="http://schemas.openxmlformats.org/drawingml/2006/main" noGrp="1"/>
          </p:cNvSpPr>
          <p:nvPr/>
        </p:nvSpPr>
        <p:spPr>
          <a:xfrm xmlns:a="http://schemas.openxmlformats.org/drawingml/2006/main">
            <a:off x="1181100" y="4667250"/>
            <a:ext cx="3390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202B45"/>
                </a:solidFill>
                <a:latin typeface="Helvetica Neue"/>
                <a:ea typeface="Helvetica Neue"/>
                <a:cs typeface="Helvetica Neue"/>
              </a:defRPr>
            </a:pPr>
            <a:r>
              <a:rPr sz="1875" b="1">
                <a:solidFill>
                  <a:srgbClr val="202B45"/>
                </a:solidFill>
                <a:latin typeface="Helvetica Neue"/>
                <a:ea typeface="Helvetica Neue"/>
                <a:cs typeface="Helvetica Neue"/>
              </a:rPr>
              <a:t>04  Back to your keyboard</a:t>
            </a:r>
          </a:p>
        </p:txBody>
      </p:sp>
      <p:sp>
        <p:nvSpPr>
          <p:cNvPr id="24" name="">
            <a:extLst xmlns:a="http://schemas.openxmlformats.org/drawingml/2006/main">
              <a:ext uri="{FF2B5EF4-FFF2-40B4-BE49-F238E27FC236}">
                <a16:creationId xmlns:a16="http://schemas.microsoft.com/office/drawing/2014/main" id="{F6DCB183-FFD0-4E19-B047-22A7110D7553}"/>
              </a:ext>
            </a:extLst>
          </p:cNvPr>
          <p:cNvSpPr>
            <a:spLocks xmlns:a="http://schemas.openxmlformats.org/drawingml/2006/main" noGrp="1"/>
          </p:cNvSpPr>
          <p:nvPr/>
        </p:nvSpPr>
        <p:spPr>
          <a:xfrm xmlns:a="http://schemas.openxmlformats.org/drawingml/2006/main">
            <a:off x="1181100" y="5124450"/>
            <a:ext cx="3390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8647B"/>
                </a:solidFill>
                <a:latin typeface="Helvetica Neue"/>
                <a:ea typeface="Helvetica Neue"/>
                <a:cs typeface="Helvetica Neue"/>
              </a:defRPr>
            </a:pPr>
            <a:r>
              <a:rPr sz="1650" b="0">
                <a:solidFill>
                  <a:srgbClr val="58647B"/>
                </a:solidFill>
                <a:latin typeface="Helvetica Neue"/>
                <a:ea typeface="Helvetica Neue"/>
                <a:cs typeface="Helvetica Neue"/>
              </a:rPr>
              <a:t>Validate, review, edit, send</a:t>
            </a:r>
          </a:p>
        </p:txBody>
      </p:sp>
      <p:cxnSp>
        <p:nvCxnSpPr>
          <p:cNvPr id="92" name=""/>
          <p:cNvCxnSpPr>
            <a:stCxn xmlns:a="http://schemas.openxmlformats.org/drawingml/2006/main" id="13" idx="3"/>
            <a:endCxn xmlns:a="http://schemas.openxmlformats.org/drawingml/2006/main" id="14" idx="1"/>
          </p:cNvCxnSpPr>
          <p:nvPr/>
        </p:nvCxnSpPr>
        <p:spPr>
          <a:xfrm xmlns:a="http://schemas.openxmlformats.org/drawingml/2006/main">
            <a:off x="4762500" y="3276600"/>
            <a:ext cx="2438400" cy="0"/>
          </a:xfrm>
          <a:prstGeom xmlns:a="http://schemas.openxmlformats.org/drawingml/2006/main" prst="straightConnector1">
            <a:avLst/>
          </a:prstGeom>
          <a:ln xmlns:a="http://schemas.openxmlformats.org/drawingml/2006/main" w="23813">
            <a:solidFill>
              <a:srgbClr val="4869B3"/>
            </a:solidFill>
            <a:prstDash val="solid"/>
            <a:headEnd type="none" w="med" len="med"/>
            <a:tailEnd type="triangle" w="med" len="med"/>
          </a:ln>
        </p:spPr>
      </p:cxnSp>
      <p:cxnSp>
        <p:nvCxnSpPr>
          <p:cNvPr id="93" name=""/>
          <p:cNvCxnSpPr>
            <a:stCxn xmlns:a="http://schemas.openxmlformats.org/drawingml/2006/main" id="14" idx="2"/>
            <a:endCxn xmlns:a="http://schemas.openxmlformats.org/drawingml/2006/main" id="15" idx="0"/>
          </p:cNvCxnSpPr>
          <p:nvPr/>
        </p:nvCxnSpPr>
        <p:spPr>
          <a:xfrm xmlns:a="http://schemas.openxmlformats.org/drawingml/2006/main">
            <a:off x="9124950" y="3829050"/>
            <a:ext cx="0" cy="685800"/>
          </a:xfrm>
          <a:prstGeom xmlns:a="http://schemas.openxmlformats.org/drawingml/2006/main" prst="straightConnector1">
            <a:avLst/>
          </a:prstGeom>
          <a:ln xmlns:a="http://schemas.openxmlformats.org/drawingml/2006/main" w="23813">
            <a:solidFill>
              <a:srgbClr val="4869B3"/>
            </a:solidFill>
            <a:prstDash val="solid"/>
            <a:headEnd type="none" w="med" len="med"/>
            <a:tailEnd type="triangle" w="med" len="med"/>
          </a:ln>
        </p:spPr>
      </p:cxnSp>
      <p:cxnSp>
        <p:nvCxnSpPr>
          <p:cNvPr id="94" name=""/>
          <p:cNvCxnSpPr>
            <a:stCxn xmlns:a="http://schemas.openxmlformats.org/drawingml/2006/main" id="15" idx="1"/>
            <a:endCxn xmlns:a="http://schemas.openxmlformats.org/drawingml/2006/main" id="16" idx="3"/>
          </p:cNvCxnSpPr>
          <p:nvPr/>
        </p:nvCxnSpPr>
        <p:spPr>
          <a:xfrm xmlns:a="http://schemas.openxmlformats.org/drawingml/2006/main" flipH="1">
            <a:off x="4762500" y="5067300"/>
            <a:ext cx="2438400" cy="0"/>
          </a:xfrm>
          <a:prstGeom xmlns:a="http://schemas.openxmlformats.org/drawingml/2006/main" prst="straightConnector1">
            <a:avLst/>
          </a:prstGeom>
          <a:ln xmlns:a="http://schemas.openxmlformats.org/drawingml/2006/main" w="23813">
            <a:solidFill>
              <a:srgbClr val="4869B3"/>
            </a:solidFill>
            <a:prstDash val="solid"/>
            <a:headEnd type="none" w="med" len="med"/>
            <a:tailEnd type="triangle" w="med" len="med"/>
          </a:ln>
        </p:spPr>
      </p:cxnSp>
      <p:sp>
        <p:nvSpPr>
          <p:cNvPr id="28" name="">
            <a:extLst xmlns:a="http://schemas.openxmlformats.org/drawingml/2006/main">
              <a:ext uri="{FF2B5EF4-FFF2-40B4-BE49-F238E27FC236}">
                <a16:creationId xmlns:a16="http://schemas.microsoft.com/office/drawing/2014/main" id="{3C82769A-C354-45FF-9A3E-7ABD1DEB3211}"/>
              </a:ext>
            </a:extLst>
          </p:cNvPr>
          <p:cNvSpPr>
            <a:spLocks xmlns:a="http://schemas.openxmlformats.org/drawingml/2006/main" noGrp="1"/>
          </p:cNvSpPr>
          <p:nvPr/>
        </p:nvSpPr>
        <p:spPr>
          <a:xfrm xmlns:a="http://schemas.openxmlformats.org/drawingml/2006/main">
            <a:off x="4905375" y="2847975"/>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869B3"/>
                </a:solidFill>
                <a:latin typeface="Helvetica Neue"/>
                <a:ea typeface="Helvetica Neue"/>
                <a:cs typeface="Helvetica Neue"/>
              </a:defRPr>
            </a:pPr>
            <a:r>
              <a:rPr sz="1575" b="0">
                <a:solidFill>
                  <a:srgbClr val="4869B3"/>
                </a:solidFill>
                <a:latin typeface="Helvetica Neue"/>
                <a:ea typeface="Helvetica Neue"/>
                <a:cs typeface="Helvetica Neue"/>
              </a:rPr>
              <a:t>Selected context</a:t>
            </a:r>
          </a:p>
        </p:txBody>
      </p:sp>
      <p:sp>
        <p:nvSpPr>
          <p:cNvPr id="29" name="">
            <a:extLst xmlns:a="http://schemas.openxmlformats.org/drawingml/2006/main">
              <a:ext uri="{FF2B5EF4-FFF2-40B4-BE49-F238E27FC236}">
                <a16:creationId xmlns:a16="http://schemas.microsoft.com/office/drawing/2014/main" id="{223C9BBB-656A-439B-A3E0-70418D5D3983}"/>
              </a:ext>
            </a:extLst>
          </p:cNvPr>
          <p:cNvSpPr>
            <a:spLocks xmlns:a="http://schemas.openxmlformats.org/drawingml/2006/main" noGrp="1"/>
          </p:cNvSpPr>
          <p:nvPr/>
        </p:nvSpPr>
        <p:spPr>
          <a:xfrm xmlns:a="http://schemas.openxmlformats.org/drawingml/2006/main">
            <a:off x="4905375" y="3457575"/>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8647B"/>
                </a:solidFill>
                <a:latin typeface="Helvetica Neue"/>
                <a:ea typeface="Helvetica Neue"/>
                <a:cs typeface="Helvetica Neue"/>
              </a:defRPr>
            </a:pPr>
            <a:r>
              <a:rPr sz="1575" b="0">
                <a:solidFill>
                  <a:srgbClr val="58647B"/>
                </a:solidFill>
                <a:latin typeface="Helvetica Neue"/>
                <a:ea typeface="Helvetica Neue"/>
                <a:cs typeface="Helvetica Neue"/>
              </a:rPr>
              <a:t>+ your intention</a:t>
            </a:r>
          </a:p>
        </p:txBody>
      </p:sp>
      <p:sp>
        <p:nvSpPr>
          <p:cNvPr id="30" name="">
            <a:extLst xmlns:a="http://schemas.openxmlformats.org/drawingml/2006/main">
              <a:ext uri="{FF2B5EF4-FFF2-40B4-BE49-F238E27FC236}">
                <a16:creationId xmlns:a16="http://schemas.microsoft.com/office/drawing/2014/main" id="{E824AAE4-44F7-444F-805B-2860CF28B5DC}"/>
              </a:ext>
            </a:extLst>
          </p:cNvPr>
          <p:cNvSpPr>
            <a:spLocks xmlns:a="http://schemas.openxmlformats.org/drawingml/2006/main" noGrp="1"/>
          </p:cNvSpPr>
          <p:nvPr/>
        </p:nvSpPr>
        <p:spPr>
          <a:xfrm xmlns:a="http://schemas.openxmlformats.org/drawingml/2006/main">
            <a:off x="5543550" y="4638675"/>
            <a:ext cx="1314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4869B3"/>
                </a:solidFill>
                <a:latin typeface="Helvetica Neue"/>
                <a:ea typeface="Helvetica Neue"/>
                <a:cs typeface="Helvetica Neue"/>
              </a:defRPr>
            </a:pPr>
            <a:r>
              <a:rPr sz="1575" b="0">
                <a:solidFill>
                  <a:srgbClr val="4869B3"/>
                </a:solidFill>
                <a:latin typeface="Helvetica Neue"/>
                <a:ea typeface="Helvetica Neue"/>
                <a:cs typeface="Helvetica Neue"/>
              </a:rPr>
              <a:t>AI result</a:t>
            </a:r>
          </a:p>
        </p:txBody>
      </p:sp>
    </p:spTree>
    <p:extLst>
      <p:ext uri="{BB962C8B-B14F-4D97-AF65-F5344CB8AC3E}">
        <p14:creationId xmlns:p14="http://schemas.microsoft.com/office/powerpoint/2010/main" val="688975363"/>
      </p:ext>
    </p:extLst>
  </p:cSld>
</p:sld>
</file>

<file path=ppt/slides/slide8.xml><?xml version="1.0" encoding="utf-8"?>
<p:sld xmlns:p="http://schemas.openxmlformats.org/presentationml/2006/main">
  <p:cSld>
    <p:bg>
      <p:bgPr>
        <a:solidFill xmlns:a="http://schemas.openxmlformats.org/drawingml/2006/main">
          <a:srgbClr val="F5F6FA"/>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78060684-F606-42B4-B71F-165063E064EC}"/>
              </a:ext>
            </a:extLst>
          </p:cNvPr>
          <p:cNvSpPr>
            <a:spLocks xmlns:a="http://schemas.openxmlformats.org/drawingml/2006/main" noGrp="1"/>
          </p:cNvSpPr>
          <p:nvPr/>
        </p:nvSpPr>
        <p:spPr>
          <a:xfrm xmlns:a="http://schemas.openxmlformats.org/drawingml/2006/main">
            <a:off x="647700" y="495300"/>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02B45"/>
                </a:solidFill>
                <a:latin typeface="Helvetica Neue"/>
                <a:ea typeface="Helvetica Neue"/>
                <a:cs typeface="Helvetica Neue"/>
              </a:defRPr>
            </a:pPr>
            <a:r>
              <a:rPr sz="3450" b="1">
                <a:solidFill>
                  <a:srgbClr val="202B45"/>
                </a:solidFill>
                <a:latin typeface="Helvetica Neue"/>
                <a:ea typeface="Helvetica Neue"/>
                <a:cs typeface="Helvetica Neue"/>
              </a:rPr>
              <a:t>Prototype scope and next steps</a:t>
            </a:r>
          </a:p>
        </p:txBody>
      </p:sp>
      <p:sp>
        <p:nvSpPr>
          <p:cNvPr id="4" name="">
            <a:extLst xmlns:a="http://schemas.openxmlformats.org/drawingml/2006/main">
              <a:ext uri="{FF2B5EF4-FFF2-40B4-BE49-F238E27FC236}">
                <a16:creationId xmlns:a16="http://schemas.microsoft.com/office/drawing/2014/main" id="{8B650C91-3BD7-4CBA-8A0B-592F744EC268}"/>
              </a:ext>
            </a:extLst>
          </p:cNvPr>
          <p:cNvSpPr>
            <a:spLocks xmlns:a="http://schemas.openxmlformats.org/drawingml/2006/main" noGrp="1"/>
          </p:cNvSpPr>
          <p:nvPr/>
        </p:nvSpPr>
        <p:spPr>
          <a:xfrm xmlns:a="http://schemas.openxmlformats.org/drawingml/2006/main">
            <a:off x="762000" y="1895475"/>
            <a:ext cx="4857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4869B3"/>
                </a:solidFill>
                <a:latin typeface="Helvetica Neue"/>
                <a:ea typeface="Helvetica Neue"/>
                <a:cs typeface="Helvetica Neue"/>
              </a:defRPr>
            </a:pPr>
            <a:r>
              <a:rPr sz="2550" b="1">
                <a:solidFill>
                  <a:srgbClr val="4869B3"/>
                </a:solidFill>
                <a:latin typeface="Helvetica Neue"/>
                <a:ea typeface="Helvetica Neue"/>
                <a:cs typeface="Helvetica Neue"/>
              </a:rPr>
              <a:t>Today</a:t>
            </a:r>
          </a:p>
        </p:txBody>
      </p:sp>
      <p:sp>
        <p:nvSpPr>
          <p:cNvPr id="5" name="">
            <a:extLst xmlns:a="http://schemas.openxmlformats.org/drawingml/2006/main">
              <a:ext uri="{FF2B5EF4-FFF2-40B4-BE49-F238E27FC236}">
                <a16:creationId xmlns:a16="http://schemas.microsoft.com/office/drawing/2014/main" id="{603263F9-6A8A-4DD9-B583-E5E5CD1225F3}"/>
              </a:ext>
            </a:extLst>
          </p:cNvPr>
          <p:cNvSpPr>
            <a:spLocks xmlns:a="http://schemas.openxmlformats.org/drawingml/2006/main" noGrp="1"/>
          </p:cNvSpPr>
          <p:nvPr/>
        </p:nvSpPr>
        <p:spPr>
          <a:xfrm xmlns:a="http://schemas.openxmlformats.org/drawingml/2006/main">
            <a:off x="6800850" y="1895475"/>
            <a:ext cx="4705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4869B3"/>
                </a:solidFill>
                <a:latin typeface="Helvetica Neue"/>
                <a:ea typeface="Helvetica Neue"/>
                <a:cs typeface="Helvetica Neue"/>
              </a:defRPr>
            </a:pPr>
            <a:r>
              <a:rPr sz="2550" b="1">
                <a:solidFill>
                  <a:srgbClr val="4869B3"/>
                </a:solidFill>
                <a:latin typeface="Helvetica Neue"/>
                <a:ea typeface="Helvetica Neue"/>
                <a:cs typeface="Helvetica Neue"/>
              </a:rPr>
              <a:t>Next</a:t>
            </a:r>
          </a:p>
        </p:txBody>
      </p:sp>
      <p:sp>
        <p:nvSpPr>
          <p:cNvPr id="6" name="">
            <a:extLst xmlns:a="http://schemas.openxmlformats.org/drawingml/2006/main">
              <a:ext uri="{FF2B5EF4-FFF2-40B4-BE49-F238E27FC236}">
                <a16:creationId xmlns:a16="http://schemas.microsoft.com/office/drawing/2014/main" id="{CE8681DB-07F0-4379-869D-1B90C2C0B77A}"/>
              </a:ext>
            </a:extLst>
          </p:cNvPr>
          <p:cNvSpPr>
            <a:spLocks xmlns:a="http://schemas.openxmlformats.org/drawingml/2006/main" noGrp="1"/>
          </p:cNvSpPr>
          <p:nvPr/>
        </p:nvSpPr>
        <p:spPr>
          <a:xfrm xmlns:a="http://schemas.openxmlformats.org/drawingml/2006/main">
            <a:off x="762000" y="2743200"/>
            <a:ext cx="4857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2B45"/>
                </a:solidFill>
                <a:latin typeface="Helvetica Neue"/>
                <a:ea typeface="Helvetica Neue"/>
                <a:cs typeface="Helvetica Neue"/>
              </a:defRPr>
            </a:pPr>
            <a:r>
              <a:rPr sz="2325" b="0">
                <a:solidFill>
                  <a:srgbClr val="202B45"/>
                </a:solidFill>
                <a:latin typeface="Helvetica Neue"/>
                <a:ea typeface="Helvetica Neue"/>
                <a:cs typeface="Helvetica Neue"/>
              </a:rPr>
              <a:t>Android prototype</a:t>
            </a:r>
          </a:p>
        </p:txBody>
      </p:sp>
      <p:sp>
        <p:nvSpPr>
          <p:cNvPr id="7" name="">
            <a:extLst xmlns:a="http://schemas.openxmlformats.org/drawingml/2006/main">
              <a:ext uri="{FF2B5EF4-FFF2-40B4-BE49-F238E27FC236}">
                <a16:creationId xmlns:a16="http://schemas.microsoft.com/office/drawing/2014/main" id="{F5B40F16-9160-4E8A-BE1F-4A2681381912}"/>
              </a:ext>
            </a:extLst>
          </p:cNvPr>
          <p:cNvSpPr>
            <a:spLocks xmlns:a="http://schemas.openxmlformats.org/drawingml/2006/main" noGrp="1"/>
          </p:cNvSpPr>
          <p:nvPr/>
        </p:nvSpPr>
        <p:spPr>
          <a:xfrm xmlns:a="http://schemas.openxmlformats.org/drawingml/2006/main">
            <a:off x="762000" y="3857625"/>
            <a:ext cx="4857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B45"/>
                </a:solidFill>
                <a:latin typeface="Helvetica Neue"/>
                <a:ea typeface="Helvetica Neue"/>
                <a:cs typeface="Helvetica Neue"/>
              </a:defRPr>
            </a:pPr>
            <a:r>
              <a:rPr sz="2100" b="0">
                <a:solidFill>
                  <a:srgbClr val="202B45"/>
                </a:solidFill>
                <a:latin typeface="Helvetica Neue"/>
                <a:ea typeface="Helvetica Neue"/>
                <a:cs typeface="Helvetica Neue"/>
              </a:rPr>
              <a:t>Cloud AI requires internet</a:t>
            </a:r>
          </a:p>
          <a:p xmlns:a="http://schemas.openxmlformats.org/drawingml/2006/main">
            <a:pPr>
              <a:defRPr sz="2100" b="0">
                <a:solidFill>
                  <a:srgbClr val="202B45"/>
                </a:solidFill>
                <a:latin typeface="Helvetica Neue"/>
                <a:ea typeface="Helvetica Neue"/>
                <a:cs typeface="Helvetica Neue"/>
              </a:defRPr>
            </a:pPr>
            <a:r>
              <a:rPr sz="2100" b="0">
                <a:solidFill>
                  <a:srgbClr val="202B45"/>
                </a:solidFill>
                <a:latin typeface="Helvetica Neue"/>
                <a:ea typeface="Helvetica Neue"/>
                <a:cs typeface="Helvetica Neue"/>
              </a:rPr>
              <a:t>and review.</a:t>
            </a:r>
          </a:p>
        </p:txBody>
      </p:sp>
      <p:sp>
        <p:nvSpPr>
          <p:cNvPr id="8" name="">
            <a:extLst xmlns:a="http://schemas.openxmlformats.org/drawingml/2006/main">
              <a:ext uri="{FF2B5EF4-FFF2-40B4-BE49-F238E27FC236}">
                <a16:creationId xmlns:a16="http://schemas.microsoft.com/office/drawing/2014/main" id="{9FE1BC35-4F3E-45B5-B999-A55EE3E3C27E}"/>
              </a:ext>
            </a:extLst>
          </p:cNvPr>
          <p:cNvSpPr>
            <a:spLocks xmlns:a="http://schemas.openxmlformats.org/drawingml/2006/main" noGrp="1"/>
          </p:cNvSpPr>
          <p:nvPr/>
        </p:nvSpPr>
        <p:spPr>
          <a:xfrm xmlns:a="http://schemas.openxmlformats.org/drawingml/2006/main">
            <a:off x="762000" y="5219700"/>
            <a:ext cx="4857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B45"/>
                </a:solidFill>
                <a:latin typeface="Helvetica Neue"/>
                <a:ea typeface="Helvetica Neue"/>
                <a:cs typeface="Helvetica Neue"/>
              </a:defRPr>
            </a:pPr>
            <a:r>
              <a:rPr sz="2100" b="0">
                <a:solidFill>
                  <a:srgbClr val="202B45"/>
                </a:solidFill>
                <a:latin typeface="Helvetica Neue"/>
                <a:ea typeface="Helvetica Neue"/>
                <a:cs typeface="Helvetica Neue"/>
              </a:rPr>
              <a:t>History depends on the</a:t>
            </a:r>
          </a:p>
          <a:p xmlns:a="http://schemas.openxmlformats.org/drawingml/2006/main">
            <a:pPr>
              <a:defRPr sz="2100" b="0">
                <a:solidFill>
                  <a:srgbClr val="202B45"/>
                </a:solidFill>
                <a:latin typeface="Helvetica Neue"/>
                <a:ea typeface="Helvetica Neue"/>
                <a:cs typeface="Helvetica Neue"/>
              </a:defRPr>
            </a:pPr>
            <a:r>
              <a:rPr sz="2100" b="0">
                <a:solidFill>
                  <a:srgbClr val="202B45"/>
                </a:solidFill>
                <a:latin typeface="Helvetica Neue"/>
                <a:ea typeface="Helvetica Neue"/>
                <a:cs typeface="Helvetica Neue"/>
              </a:rPr>
              <a:t>service and session.</a:t>
            </a:r>
          </a:p>
        </p:txBody>
      </p:sp>
      <p:sp>
        <p:nvSpPr>
          <p:cNvPr id="9" name="">
            <a:extLst xmlns:a="http://schemas.openxmlformats.org/drawingml/2006/main">
              <a:ext uri="{FF2B5EF4-FFF2-40B4-BE49-F238E27FC236}">
                <a16:creationId xmlns:a16="http://schemas.microsoft.com/office/drawing/2014/main" id="{2E2A09B6-DD10-4AD6-80B8-EA7DFC5FA7E7}"/>
              </a:ext>
            </a:extLst>
          </p:cNvPr>
          <p:cNvSpPr>
            <a:spLocks xmlns:a="http://schemas.openxmlformats.org/drawingml/2006/main" noGrp="1"/>
          </p:cNvSpPr>
          <p:nvPr/>
        </p:nvSpPr>
        <p:spPr>
          <a:xfrm xmlns:a="http://schemas.openxmlformats.org/drawingml/2006/main">
            <a:off x="6800850" y="2743200"/>
            <a:ext cx="47053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202B45"/>
                </a:solidFill>
                <a:latin typeface="Helvetica Neue"/>
                <a:ea typeface="Helvetica Neue"/>
                <a:cs typeface="Helvetica Neue"/>
              </a:defRPr>
            </a:pPr>
            <a:r>
              <a:rPr sz="2325" b="0">
                <a:solidFill>
                  <a:srgbClr val="202B45"/>
                </a:solidFill>
                <a:latin typeface="Helvetica Neue"/>
                <a:ea typeface="Helvetica Neue"/>
                <a:cs typeface="Helvetica Neue"/>
              </a:rPr>
              <a:t>Test usefulness with users</a:t>
            </a:r>
          </a:p>
        </p:txBody>
      </p:sp>
      <p:sp>
        <p:nvSpPr>
          <p:cNvPr id="10" name="">
            <a:extLst xmlns:a="http://schemas.openxmlformats.org/drawingml/2006/main">
              <a:ext uri="{FF2B5EF4-FFF2-40B4-BE49-F238E27FC236}">
                <a16:creationId xmlns:a16="http://schemas.microsoft.com/office/drawing/2014/main" id="{85A6949A-DCF1-47BF-9781-37C7692F733C}"/>
              </a:ext>
            </a:extLst>
          </p:cNvPr>
          <p:cNvSpPr>
            <a:spLocks xmlns:a="http://schemas.openxmlformats.org/drawingml/2006/main" noGrp="1"/>
          </p:cNvSpPr>
          <p:nvPr/>
        </p:nvSpPr>
        <p:spPr>
          <a:xfrm xmlns:a="http://schemas.openxmlformats.org/drawingml/2006/main">
            <a:off x="6800850" y="3857625"/>
            <a:ext cx="470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B45"/>
                </a:solidFill>
                <a:latin typeface="Helvetica Neue"/>
                <a:ea typeface="Helvetica Neue"/>
                <a:cs typeface="Helvetica Neue"/>
              </a:defRPr>
            </a:pPr>
            <a:r>
              <a:rPr sz="2100" b="0">
                <a:solidFill>
                  <a:srgbClr val="202B45"/>
                </a:solidFill>
                <a:latin typeface="Helvetica Neue"/>
                <a:ea typeface="Helvetica Neue"/>
                <a:cs typeface="Helvetica Neue"/>
              </a:rPr>
              <a:t>Improve factual accuracy</a:t>
            </a:r>
          </a:p>
          <a:p xmlns:a="http://schemas.openxmlformats.org/drawingml/2006/main">
            <a:pPr>
              <a:defRPr sz="2100" b="0">
                <a:solidFill>
                  <a:srgbClr val="202B45"/>
                </a:solidFill>
                <a:latin typeface="Helvetica Neue"/>
                <a:ea typeface="Helvetica Neue"/>
                <a:cs typeface="Helvetica Neue"/>
              </a:defRPr>
            </a:pPr>
            <a:r>
              <a:rPr sz="2100" b="0">
                <a:solidFill>
                  <a:srgbClr val="202B45"/>
                </a:solidFill>
                <a:latin typeface="Helvetica Neue"/>
                <a:ea typeface="Helvetica Neue"/>
                <a:cs typeface="Helvetica Neue"/>
              </a:rPr>
              <a:t>and reliability</a:t>
            </a:r>
          </a:p>
        </p:txBody>
      </p:sp>
      <p:sp>
        <p:nvSpPr>
          <p:cNvPr id="11" name="">
            <a:extLst xmlns:a="http://schemas.openxmlformats.org/drawingml/2006/main">
              <a:ext uri="{FF2B5EF4-FFF2-40B4-BE49-F238E27FC236}">
                <a16:creationId xmlns:a16="http://schemas.microsoft.com/office/drawing/2014/main" id="{9E37A3C1-F0D9-46E9-B43D-BCA82809E400}"/>
              </a:ext>
            </a:extLst>
          </p:cNvPr>
          <p:cNvSpPr>
            <a:spLocks xmlns:a="http://schemas.openxmlformats.org/drawingml/2006/main" noGrp="1"/>
          </p:cNvSpPr>
          <p:nvPr/>
        </p:nvSpPr>
        <p:spPr>
          <a:xfrm xmlns:a="http://schemas.openxmlformats.org/drawingml/2006/main">
            <a:off x="6800850" y="5219700"/>
            <a:ext cx="4705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02B45"/>
                </a:solidFill>
                <a:latin typeface="Helvetica Neue"/>
                <a:ea typeface="Helvetica Neue"/>
                <a:cs typeface="Helvetica Neue"/>
              </a:defRPr>
            </a:pPr>
            <a:r>
              <a:rPr sz="2100" b="0">
                <a:solidFill>
                  <a:srgbClr val="202B45"/>
                </a:solidFill>
                <a:latin typeface="Helvetica Neue"/>
                <a:ea typeface="Helvetica Neue"/>
                <a:cs typeface="Helvetica Neue"/>
              </a:rPr>
              <a:t>Validate the iOS experience</a:t>
            </a:r>
          </a:p>
        </p:txBody>
      </p:sp>
      <p:sp>
        <p:nvSpPr>
          <p:cNvPr id="12" name="">
            <a:extLst xmlns:a="http://schemas.openxmlformats.org/drawingml/2006/main">
              <a:ext uri="{FF2B5EF4-FFF2-40B4-BE49-F238E27FC236}">
                <a16:creationId xmlns:a16="http://schemas.microsoft.com/office/drawing/2014/main" id="{B0518108-0E6C-4D3B-A87D-6B12D6C8B872}"/>
              </a:ext>
            </a:extLst>
          </p:cNvPr>
          <p:cNvSpPr>
            <a:spLocks xmlns:a="http://schemas.openxmlformats.org/drawingml/2006/main" noGrp="1"/>
          </p:cNvSpPr>
          <p:nvPr/>
        </p:nvSpPr>
        <p:spPr>
          <a:xfrm xmlns:a="http://schemas.openxmlformats.org/drawingml/2006/main">
            <a:off x="6134100" y="1895475"/>
            <a:ext cx="0" cy="4200525"/>
          </a:xfrm>
          <a:prstGeom xmlns:a="http://schemas.openxmlformats.org/drawingml/2006/main" prst="line">
            <a:avLst/>
          </a:prstGeom>
          <a:noFill xmlns:a="http://schemas.openxmlformats.org/drawingml/2006/main"/>
          <a:ln xmlns:a="http://schemas.openxmlformats.org/drawingml/2006/main" w="14288">
            <a:solidFill>
              <a:srgbClr val="CBD3E4"/>
            </a:solidFill>
            <a:prstDash val="solid"/>
          </a:ln>
        </p:spPr>
      </p:sp>
    </p:spTree>
    <p:extLst>
      <p:ext uri="{BB962C8B-B14F-4D97-AF65-F5344CB8AC3E}">
        <p14:creationId xmlns:p14="http://schemas.microsoft.com/office/powerpoint/2010/main" val="589571668"/>
      </p:ext>
    </p:extLst>
  </p:cSld>
</p:sld>
</file>

<file path=ppt/slides/slide9.xml><?xml version="1.0" encoding="utf-8"?>
<p:sld xmlns:p="http://schemas.openxmlformats.org/presentationml/2006/main">
  <p:cSld>
    <p:bg>
      <p:bgPr>
        <a:solidFill xmlns:a="http://schemas.openxmlformats.org/drawingml/2006/main">
          <a:srgbClr val="F5F6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E1126F6-E2C5-484E-B002-206345CBFCB4}"/>
              </a:ext>
            </a:extLst>
          </p:cNvPr>
          <p:cNvSpPr>
            <a:spLocks xmlns:a="http://schemas.openxmlformats.org/drawingml/2006/main" noGrp="1"/>
          </p:cNvSpPr>
          <p:nvPr/>
        </p:nvSpPr>
        <p:spPr>
          <a:xfrm xmlns:a="http://schemas.openxmlformats.org/drawingml/2006/main">
            <a:off x="647700" y="495300"/>
            <a:ext cx="10896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450" b="1">
                <a:solidFill>
                  <a:srgbClr val="202B45"/>
                </a:solidFill>
                <a:latin typeface="Helvetica Neue"/>
                <a:ea typeface="Helvetica Neue"/>
                <a:cs typeface="Helvetica Neue"/>
              </a:defRPr>
            </a:pPr>
            <a:r>
              <a:rPr sz="3450" b="1">
                <a:solidFill>
                  <a:srgbClr val="202B45"/>
                </a:solidFill>
                <a:latin typeface="Helvetica Neue"/>
                <a:ea typeface="Helvetica Neue"/>
                <a:cs typeface="Helvetica Neue"/>
              </a:rPr>
              <a:t>Cue</a:t>
            </a:r>
          </a:p>
        </p:txBody>
      </p:sp>
      <p:sp>
        <p:nvSpPr>
          <p:cNvPr id="6" name="">
            <a:extLst xmlns:a="http://schemas.openxmlformats.org/drawingml/2006/main">
              <a:ext uri="{FF2B5EF4-FFF2-40B4-BE49-F238E27FC236}">
                <a16:creationId xmlns:a16="http://schemas.microsoft.com/office/drawing/2014/main" id="{14B31C02-047D-41F3-B098-DFD9B1665D5A}"/>
              </a:ext>
            </a:extLst>
          </p:cNvPr>
          <p:cNvSpPr>
            <a:spLocks xmlns:a="http://schemas.openxmlformats.org/drawingml/2006/main" noGrp="1"/>
          </p:cNvSpPr>
          <p:nvPr/>
        </p:nvSpPr>
        <p:spPr>
          <a:xfrm xmlns:a="http://schemas.openxmlformats.org/drawingml/2006/main">
            <a:off x="762000" y="1790700"/>
            <a:ext cx="7239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202B45"/>
                </a:solidFill>
                <a:latin typeface="Helvetica Neue"/>
                <a:ea typeface="Helvetica Neue"/>
                <a:cs typeface="Helvetica Neue"/>
              </a:defRPr>
            </a:pPr>
            <a:r>
              <a:rPr sz="4050" b="1">
                <a:solidFill>
                  <a:srgbClr val="202B45"/>
                </a:solidFill>
                <a:latin typeface="Helvetica Neue"/>
                <a:ea typeface="Helvetica Neue"/>
                <a:cs typeface="Helvetica Neue"/>
              </a:rPr>
              <a:t>Not sure how to reply?</a:t>
            </a:r>
          </a:p>
          <a:p xmlns:a="http://schemas.openxmlformats.org/drawingml/2006/main">
            <a:pPr>
              <a:defRPr sz="4050" b="1">
                <a:solidFill>
                  <a:srgbClr val="202B45"/>
                </a:solidFill>
                <a:latin typeface="Helvetica Neue"/>
                <a:ea typeface="Helvetica Neue"/>
                <a:cs typeface="Helvetica Neue"/>
              </a:defRPr>
            </a:pPr>
            <a:r>
              <a:rPr sz="4050" b="1">
                <a:solidFill>
                  <a:srgbClr val="202B45"/>
                </a:solidFill>
                <a:latin typeface="Helvetica Neue"/>
                <a:ea typeface="Helvetica Neue"/>
                <a:cs typeface="Helvetica Neue"/>
              </a:rPr>
              <a:t>Cue has a suggestion.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2c3f9bebd5b4056"/>
          <a:stretch xmlns:a="http://schemas.openxmlformats.org/drawingml/2006/main"/>
        </p:blipFill>
        <p:spPr>
          <a:xfrm xmlns:a="http://schemas.openxmlformats.org/drawingml/2006/main">
            <a:off x="8515350" y="1809750"/>
            <a:ext cx="2952750" cy="2952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D592A3A-78BE-42D8-BEB1-EDBB3507A459}"/>
              </a:ext>
            </a:extLst>
          </p:cNvPr>
          <p:cNvSpPr>
            <a:spLocks xmlns:a="http://schemas.openxmlformats.org/drawingml/2006/main" noGrp="1"/>
          </p:cNvSpPr>
          <p:nvPr/>
        </p:nvSpPr>
        <p:spPr>
          <a:xfrm xmlns:a="http://schemas.openxmlformats.org/drawingml/2006/main">
            <a:off x="762000" y="4105275"/>
            <a:ext cx="7620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4869B3"/>
                </a:solidFill>
                <a:latin typeface="Helvetica Neue"/>
                <a:ea typeface="Helvetica Neue"/>
                <a:cs typeface="Helvetica Neue"/>
              </a:defRPr>
            </a:pPr>
            <a:r>
              <a:rPr sz="2400" b="1">
                <a:solidFill>
                  <a:srgbClr val="4869B3"/>
                </a:solidFill>
                <a:latin typeface="Helvetica Neue"/>
                <a:ea typeface="Helvetica Neue"/>
                <a:cs typeface="Helvetica Neue"/>
              </a:rPr>
              <a:t>Undefined</a:t>
            </a:r>
          </a:p>
        </p:txBody>
      </p:sp>
      <p:sp>
        <p:nvSpPr>
          <p:cNvPr id="9" name="">
            <a:extLst xmlns:a="http://schemas.openxmlformats.org/drawingml/2006/main">
              <a:ext uri="{FF2B5EF4-FFF2-40B4-BE49-F238E27FC236}">
                <a16:creationId xmlns:a16="http://schemas.microsoft.com/office/drawing/2014/main" id="{F17AAA8D-9651-4D51-ABBD-B7C03D5490AE}"/>
              </a:ext>
            </a:extLst>
          </p:cNvPr>
          <p:cNvSpPr>
            <a:spLocks xmlns:a="http://schemas.openxmlformats.org/drawingml/2006/main" noGrp="1"/>
          </p:cNvSpPr>
          <p:nvPr/>
        </p:nvSpPr>
        <p:spPr>
          <a:xfrm xmlns:a="http://schemas.openxmlformats.org/drawingml/2006/main">
            <a:off x="762000" y="465772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02B45"/>
                </a:solidFill>
                <a:latin typeface="Helvetica Neue"/>
                <a:ea typeface="Helvetica Neue"/>
                <a:cs typeface="Helvetica Neue"/>
              </a:defRPr>
            </a:pPr>
            <a:r>
              <a:rPr sz="2250" b="1">
                <a:solidFill>
                  <a:srgbClr val="202B45"/>
                </a:solidFill>
                <a:latin typeface="Helvetica Neue"/>
                <a:ea typeface="Helvetica Neue"/>
                <a:cs typeface="Helvetica Neue"/>
              </a:rPr>
              <a:t>Mikołaj Piech · Marcel Chudyba</a:t>
            </a:r>
          </a:p>
        </p:txBody>
      </p:sp>
      <p:sp>
        <p:nvSpPr>
          <p:cNvPr id="10" name="">
            <a:extLst xmlns:a="http://schemas.openxmlformats.org/drawingml/2006/main">
              <a:ext uri="{FF2B5EF4-FFF2-40B4-BE49-F238E27FC236}">
                <a16:creationId xmlns:a16="http://schemas.microsoft.com/office/drawing/2014/main" id="{DDDF84C5-F70C-407F-805C-745F4AFF49DA}"/>
              </a:ext>
            </a:extLst>
          </p:cNvPr>
          <p:cNvSpPr>
            <a:spLocks xmlns:a="http://schemas.openxmlformats.org/drawingml/2006/main" noGrp="1"/>
          </p:cNvSpPr>
          <p:nvPr/>
        </p:nvSpPr>
        <p:spPr>
          <a:xfrm xmlns:a="http://schemas.openxmlformats.org/drawingml/2006/main">
            <a:off x="762000" y="521970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8647B"/>
                </a:solidFill>
                <a:latin typeface="Helvetica Neue"/>
                <a:ea typeface="Helvetica Neue"/>
                <a:cs typeface="Helvetica Neue"/>
              </a:defRPr>
            </a:pPr>
            <a:r>
              <a:rPr sz="2100" b="0">
                <a:solidFill>
                  <a:srgbClr val="58647B"/>
                </a:solidFill>
                <a:latin typeface="Helvetica Neue"/>
                <a:ea typeface="Helvetica Neue"/>
                <a:cs typeface="Helvetica Neue"/>
              </a:rPr>
              <a:t>Both 18 · Built from scratch during HackYeah.</a:t>
            </a:r>
          </a:p>
        </p:txBody>
      </p:sp>
      <p:sp>
        <p:nvSpPr>
          <p:cNvPr id="11" name="">
            <a:extLst xmlns:a="http://schemas.openxmlformats.org/drawingml/2006/main">
              <a:ext uri="{FF2B5EF4-FFF2-40B4-BE49-F238E27FC236}">
                <a16:creationId xmlns:a16="http://schemas.microsoft.com/office/drawing/2014/main" id="{61207978-BE15-49F0-B36A-C86F31C18420}"/>
              </a:ext>
            </a:extLst>
          </p:cNvPr>
          <p:cNvSpPr>
            <a:spLocks xmlns:a="http://schemas.openxmlformats.org/drawingml/2006/main" noGrp="1"/>
          </p:cNvSpPr>
          <p:nvPr/>
        </p:nvSpPr>
        <p:spPr>
          <a:xfrm xmlns:a="http://schemas.openxmlformats.org/drawingml/2006/main">
            <a:off x="762000" y="62007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8647B"/>
                </a:solidFill>
                <a:latin typeface="Helvetica Neue"/>
                <a:ea typeface="Helvetica Neue"/>
                <a:cs typeface="Helvetica Neue"/>
              </a:defRPr>
            </a:pPr>
            <a:r>
              <a:rPr sz="1575" b="0">
                <a:solidFill>
                  <a:srgbClr val="58647B"/>
                </a:solidFill>
                <a:latin typeface="Helvetica Neue"/>
                <a:ea typeface="Helvetica Neue"/>
                <a:cs typeface="Helvetica Neue"/>
              </a:rPr>
              <a:t>Open-source foundations · DeepSeek AI · Codex-assisted development</a:t>
            </a:r>
          </a:p>
        </p:txBody>
      </p:sp>
    </p:spTree>
    <p:extLst>
      <p:ext uri="{BB962C8B-B14F-4D97-AF65-F5344CB8AC3E}">
        <p14:creationId xmlns:p14="http://schemas.microsoft.com/office/powerpoint/2010/main" val="14929553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2026-10-04T02:19:48.5060000Z</dcterms:created>
  <dcterms:modified xsi:type="dcterms:W3CDTF">2026-10-04T02:19:48.5060000Z</dcterms:modified>
</coreProperties>
</file>